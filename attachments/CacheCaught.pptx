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4610100" cy="3460750"/>
  <p:notesSz cx="4610100" cy="346075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Tahoma" panose="020B0604030504040204" pitchFamily="34" charset="0"/>
      <p:regular r:id="rId15"/>
      <p:bold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1052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768500" y="259550"/>
            <a:ext cx="3073550" cy="1297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1726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5894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4317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6854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4365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4488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905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4054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251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87743" y="746543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 extrusionOk="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38544" y="809801"/>
            <a:ext cx="4432935" cy="674369"/>
          </a:xfrm>
          <a:custGeom>
            <a:avLst/>
            <a:gdLst/>
            <a:ahLst/>
            <a:cxnLst/>
            <a:rect l="l" t="t" r="r" b="b"/>
            <a:pathLst>
              <a:path w="4432935" h="674369" extrusionOk="0">
                <a:moveTo>
                  <a:pt x="4432566" y="0"/>
                </a:moveTo>
                <a:lnTo>
                  <a:pt x="0" y="0"/>
                </a:lnTo>
                <a:lnTo>
                  <a:pt x="0" y="674283"/>
                </a:lnTo>
                <a:lnTo>
                  <a:pt x="4432566" y="674283"/>
                </a:lnTo>
                <a:lnTo>
                  <a:pt x="443256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7743" y="790964"/>
            <a:ext cx="4432935" cy="642619"/>
          </a:xfrm>
          <a:custGeom>
            <a:avLst/>
            <a:gdLst/>
            <a:ahLst/>
            <a:cxnLst/>
            <a:rect l="l" t="t" r="r" b="b"/>
            <a:pathLst>
              <a:path w="4432935" h="642619" extrusionOk="0">
                <a:moveTo>
                  <a:pt x="4432566" y="0"/>
                </a:moveTo>
                <a:lnTo>
                  <a:pt x="0" y="0"/>
                </a:lnTo>
                <a:lnTo>
                  <a:pt x="0" y="591519"/>
                </a:lnTo>
                <a:lnTo>
                  <a:pt x="4008" y="611243"/>
                </a:lnTo>
                <a:lnTo>
                  <a:pt x="14922" y="627396"/>
                </a:lnTo>
                <a:lnTo>
                  <a:pt x="31075" y="638310"/>
                </a:lnTo>
                <a:lnTo>
                  <a:pt x="50800" y="642319"/>
                </a:lnTo>
                <a:lnTo>
                  <a:pt x="4381765" y="642319"/>
                </a:lnTo>
                <a:lnTo>
                  <a:pt x="4401490" y="638310"/>
                </a:lnTo>
                <a:lnTo>
                  <a:pt x="4417643" y="627396"/>
                </a:lnTo>
                <a:lnTo>
                  <a:pt x="4428558" y="611243"/>
                </a:lnTo>
                <a:lnTo>
                  <a:pt x="4432566" y="591519"/>
                </a:lnTo>
                <a:lnTo>
                  <a:pt x="4432566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3319272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95300" y="53121"/>
            <a:ext cx="20979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02932" y="1549787"/>
            <a:ext cx="29382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3319272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>
            <a:off x="345757" y="1072832"/>
            <a:ext cx="39186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691515" y="1938020"/>
            <a:ext cx="32271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3319272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95300" y="53121"/>
            <a:ext cx="20979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30505" y="795972"/>
            <a:ext cx="2005500" cy="22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2374201" y="795972"/>
            <a:ext cx="2005500" cy="22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3319272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95300" y="53121"/>
            <a:ext cx="20979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3319272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4608195" cy="311785"/>
          </a:xfrm>
          <a:custGeom>
            <a:avLst/>
            <a:gdLst/>
            <a:ahLst/>
            <a:cxnLst/>
            <a:rect l="l" t="t" r="r" b="b"/>
            <a:pathLst>
              <a:path w="4608195" h="311785" extrusionOk="0">
                <a:moveTo>
                  <a:pt x="4608004" y="0"/>
                </a:moveTo>
                <a:lnTo>
                  <a:pt x="0" y="0"/>
                </a:lnTo>
                <a:lnTo>
                  <a:pt x="0" y="311315"/>
                </a:lnTo>
                <a:lnTo>
                  <a:pt x="4608004" y="311315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95300" y="53121"/>
            <a:ext cx="20979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02932" y="1549787"/>
            <a:ext cx="29382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3319272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:443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xample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/>
        </p:nvSpPr>
        <p:spPr>
          <a:xfrm>
            <a:off x="138544" y="809801"/>
            <a:ext cx="44328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500" rIns="0" bIns="0" anchor="t" anchorCtr="0">
            <a:spAutoFit/>
          </a:bodyPr>
          <a:lstStyle/>
          <a:p>
            <a:pPr marL="0" marR="9334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CacheCaught: </a:t>
            </a:r>
            <a:r>
              <a:rPr lang="en-US" sz="1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Smart Proxy Server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marL="0" marR="94615" lvl="0" indent="0" algn="ctr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with Intelligent Caching and Web Dashboard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175975" y="1643375"/>
            <a:ext cx="42837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Mehedi Hasan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Univers</a:t>
            </a:r>
            <a:r>
              <a:rPr lang="en-US" sz="800"/>
              <a:t>ity of Dhaka</a:t>
            </a:r>
            <a:endParaRPr sz="8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December 24, 2025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95300" y="53121"/>
            <a:ext cx="2086500" cy="1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System Overview - How It Works</a:t>
            </a:r>
            <a:endParaRPr sz="11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54" name="Google Shape;54;p8"/>
          <p:cNvGrpSpPr/>
          <p:nvPr/>
        </p:nvGrpSpPr>
        <p:grpSpPr>
          <a:xfrm>
            <a:off x="835535" y="795411"/>
            <a:ext cx="751840" cy="275590"/>
            <a:chOff x="835535" y="795411"/>
            <a:chExt cx="751840" cy="275590"/>
          </a:xfrm>
        </p:grpSpPr>
        <p:sp>
          <p:nvSpPr>
            <p:cNvPr id="55" name="Google Shape;55;p8"/>
            <p:cNvSpPr/>
            <p:nvPr/>
          </p:nvSpPr>
          <p:spPr>
            <a:xfrm>
              <a:off x="835535" y="795411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40" h="275590" extrusionOk="0">
                  <a:moveTo>
                    <a:pt x="708689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0"/>
                  </a:lnTo>
                  <a:lnTo>
                    <a:pt x="43019" y="275401"/>
                  </a:lnTo>
                  <a:lnTo>
                    <a:pt x="708689" y="275401"/>
                  </a:lnTo>
                  <a:lnTo>
                    <a:pt x="725434" y="272020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8" y="232382"/>
                  </a:lnTo>
                  <a:lnTo>
                    <a:pt x="751708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4" y="3380"/>
                  </a:lnTo>
                  <a:lnTo>
                    <a:pt x="70868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835535" y="795411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40" h="275590" extrusionOk="0">
                  <a:moveTo>
                    <a:pt x="708689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0"/>
                  </a:lnTo>
                  <a:lnTo>
                    <a:pt x="43019" y="275401"/>
                  </a:lnTo>
                  <a:lnTo>
                    <a:pt x="708689" y="275401"/>
                  </a:lnTo>
                  <a:lnTo>
                    <a:pt x="725434" y="272020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8" y="232382"/>
                  </a:lnTo>
                  <a:lnTo>
                    <a:pt x="751708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4" y="3380"/>
                  </a:lnTo>
                  <a:lnTo>
                    <a:pt x="70868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57" name="Google Shape;57;p8"/>
          <p:cNvSpPr txBox="1"/>
          <p:nvPr/>
        </p:nvSpPr>
        <p:spPr>
          <a:xfrm>
            <a:off x="905708" y="869455"/>
            <a:ext cx="6819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Cambria"/>
                <a:ea typeface="Cambria"/>
                <a:cs typeface="Cambria"/>
                <a:sym typeface="Cambria"/>
              </a:rPr>
              <a:t>Client Browser</a:t>
            </a:r>
            <a:endParaRPr sz="75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58" name="Google Shape;58;p8"/>
          <p:cNvGrpSpPr/>
          <p:nvPr/>
        </p:nvGrpSpPr>
        <p:grpSpPr>
          <a:xfrm>
            <a:off x="1989352" y="795411"/>
            <a:ext cx="751840" cy="275590"/>
            <a:chOff x="1989352" y="795411"/>
            <a:chExt cx="751840" cy="275590"/>
          </a:xfrm>
        </p:grpSpPr>
        <p:sp>
          <p:nvSpPr>
            <p:cNvPr id="59" name="Google Shape;59;p8"/>
            <p:cNvSpPr/>
            <p:nvPr/>
          </p:nvSpPr>
          <p:spPr>
            <a:xfrm>
              <a:off x="1989352" y="795411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39" h="275590" extrusionOk="0">
                  <a:moveTo>
                    <a:pt x="708690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0"/>
                  </a:lnTo>
                  <a:lnTo>
                    <a:pt x="43019" y="275401"/>
                  </a:lnTo>
                  <a:lnTo>
                    <a:pt x="708690" y="275401"/>
                  </a:lnTo>
                  <a:lnTo>
                    <a:pt x="725435" y="272020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9" y="232382"/>
                  </a:lnTo>
                  <a:lnTo>
                    <a:pt x="751709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5" y="3380"/>
                  </a:lnTo>
                  <a:lnTo>
                    <a:pt x="70869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1989352" y="795411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39" h="275590" extrusionOk="0">
                  <a:moveTo>
                    <a:pt x="708690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0"/>
                  </a:lnTo>
                  <a:lnTo>
                    <a:pt x="43019" y="275401"/>
                  </a:lnTo>
                  <a:lnTo>
                    <a:pt x="708690" y="275401"/>
                  </a:lnTo>
                  <a:lnTo>
                    <a:pt x="725435" y="272020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9" y="232382"/>
                  </a:lnTo>
                  <a:lnTo>
                    <a:pt x="751709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5" y="3380"/>
                  </a:lnTo>
                  <a:lnTo>
                    <a:pt x="70869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61" name="Google Shape;61;p8"/>
          <p:cNvSpPr txBox="1"/>
          <p:nvPr/>
        </p:nvSpPr>
        <p:spPr>
          <a:xfrm>
            <a:off x="2067919" y="869544"/>
            <a:ext cx="5949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Cambria"/>
                <a:ea typeface="Cambria"/>
                <a:cs typeface="Cambria"/>
                <a:sym typeface="Cambria"/>
              </a:rPr>
              <a:t>Proxy Server</a:t>
            </a:r>
            <a:endParaRPr sz="75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62" name="Google Shape;62;p8"/>
          <p:cNvGrpSpPr/>
          <p:nvPr/>
        </p:nvGrpSpPr>
        <p:grpSpPr>
          <a:xfrm>
            <a:off x="3020765" y="393308"/>
            <a:ext cx="751840" cy="275590"/>
            <a:chOff x="3020765" y="393308"/>
            <a:chExt cx="751840" cy="275590"/>
          </a:xfrm>
        </p:grpSpPr>
        <p:sp>
          <p:nvSpPr>
            <p:cNvPr id="63" name="Google Shape;63;p8"/>
            <p:cNvSpPr/>
            <p:nvPr/>
          </p:nvSpPr>
          <p:spPr>
            <a:xfrm>
              <a:off x="3020765" y="393308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39" h="275590" extrusionOk="0">
                  <a:moveTo>
                    <a:pt x="708690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0"/>
                  </a:lnTo>
                  <a:lnTo>
                    <a:pt x="43019" y="275401"/>
                  </a:lnTo>
                  <a:lnTo>
                    <a:pt x="708690" y="275401"/>
                  </a:lnTo>
                  <a:lnTo>
                    <a:pt x="725435" y="272020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9" y="232382"/>
                  </a:lnTo>
                  <a:lnTo>
                    <a:pt x="751709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5" y="3380"/>
                  </a:lnTo>
                  <a:lnTo>
                    <a:pt x="70869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4" name="Google Shape;64;p8"/>
            <p:cNvSpPr/>
            <p:nvPr/>
          </p:nvSpPr>
          <p:spPr>
            <a:xfrm>
              <a:off x="3020765" y="393308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39" h="275590" extrusionOk="0">
                  <a:moveTo>
                    <a:pt x="708690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1"/>
                  </a:lnTo>
                  <a:lnTo>
                    <a:pt x="43019" y="275401"/>
                  </a:lnTo>
                  <a:lnTo>
                    <a:pt x="708690" y="275401"/>
                  </a:lnTo>
                  <a:lnTo>
                    <a:pt x="725435" y="272021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9" y="232382"/>
                  </a:lnTo>
                  <a:lnTo>
                    <a:pt x="751709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5" y="3380"/>
                  </a:lnTo>
                  <a:lnTo>
                    <a:pt x="70869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65" name="Google Shape;65;p8"/>
          <p:cNvSpPr txBox="1"/>
          <p:nvPr/>
        </p:nvSpPr>
        <p:spPr>
          <a:xfrm>
            <a:off x="3110931" y="467353"/>
            <a:ext cx="5715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Cambria"/>
                <a:ea typeface="Cambria"/>
                <a:cs typeface="Cambria"/>
                <a:sym typeface="Cambria"/>
              </a:rPr>
              <a:t>Cache Layer</a:t>
            </a:r>
            <a:endParaRPr sz="75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66" name="Google Shape;66;p8"/>
          <p:cNvGrpSpPr/>
          <p:nvPr/>
        </p:nvGrpSpPr>
        <p:grpSpPr>
          <a:xfrm>
            <a:off x="1989352" y="1197514"/>
            <a:ext cx="1783253" cy="550996"/>
            <a:chOff x="1989352" y="1197514"/>
            <a:chExt cx="1783253" cy="550996"/>
          </a:xfrm>
        </p:grpSpPr>
        <p:sp>
          <p:nvSpPr>
            <p:cNvPr id="67" name="Google Shape;67;p8"/>
            <p:cNvSpPr/>
            <p:nvPr/>
          </p:nvSpPr>
          <p:spPr>
            <a:xfrm>
              <a:off x="3020765" y="1197514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39" h="275590" extrusionOk="0">
                  <a:moveTo>
                    <a:pt x="708690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0"/>
                  </a:lnTo>
                  <a:lnTo>
                    <a:pt x="43019" y="275401"/>
                  </a:lnTo>
                  <a:lnTo>
                    <a:pt x="708690" y="275401"/>
                  </a:lnTo>
                  <a:lnTo>
                    <a:pt x="725435" y="272020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9" y="232382"/>
                  </a:lnTo>
                  <a:lnTo>
                    <a:pt x="751709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5" y="3380"/>
                  </a:lnTo>
                  <a:lnTo>
                    <a:pt x="70869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020765" y="1197514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39" h="275590" extrusionOk="0">
                  <a:moveTo>
                    <a:pt x="708690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1"/>
                  </a:lnTo>
                  <a:lnTo>
                    <a:pt x="43019" y="275401"/>
                  </a:lnTo>
                  <a:lnTo>
                    <a:pt x="708690" y="275401"/>
                  </a:lnTo>
                  <a:lnTo>
                    <a:pt x="725435" y="272021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9" y="232382"/>
                  </a:lnTo>
                  <a:lnTo>
                    <a:pt x="751709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5" y="3380"/>
                  </a:lnTo>
                  <a:lnTo>
                    <a:pt x="70869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1989352" y="1472920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39" h="275589" extrusionOk="0">
                  <a:moveTo>
                    <a:pt x="708690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0"/>
                  </a:lnTo>
                  <a:lnTo>
                    <a:pt x="43019" y="275401"/>
                  </a:lnTo>
                  <a:lnTo>
                    <a:pt x="708690" y="275401"/>
                  </a:lnTo>
                  <a:lnTo>
                    <a:pt x="725435" y="272020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9" y="232382"/>
                  </a:lnTo>
                  <a:lnTo>
                    <a:pt x="751709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5" y="3380"/>
                  </a:lnTo>
                  <a:lnTo>
                    <a:pt x="70869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1989352" y="1472920"/>
              <a:ext cx="751840" cy="275590"/>
            </a:xfrm>
            <a:custGeom>
              <a:avLst/>
              <a:gdLst/>
              <a:ahLst/>
              <a:cxnLst/>
              <a:rect l="l" t="t" r="r" b="b"/>
              <a:pathLst>
                <a:path w="751839" h="275589" extrusionOk="0">
                  <a:moveTo>
                    <a:pt x="708690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32382"/>
                  </a:lnTo>
                  <a:lnTo>
                    <a:pt x="3380" y="249127"/>
                  </a:lnTo>
                  <a:lnTo>
                    <a:pt x="12599" y="262801"/>
                  </a:lnTo>
                  <a:lnTo>
                    <a:pt x="26274" y="272020"/>
                  </a:lnTo>
                  <a:lnTo>
                    <a:pt x="43019" y="275401"/>
                  </a:lnTo>
                  <a:lnTo>
                    <a:pt x="708690" y="275401"/>
                  </a:lnTo>
                  <a:lnTo>
                    <a:pt x="725435" y="272020"/>
                  </a:lnTo>
                  <a:lnTo>
                    <a:pt x="739109" y="262801"/>
                  </a:lnTo>
                  <a:lnTo>
                    <a:pt x="748328" y="249127"/>
                  </a:lnTo>
                  <a:lnTo>
                    <a:pt x="751709" y="232382"/>
                  </a:lnTo>
                  <a:lnTo>
                    <a:pt x="751709" y="43019"/>
                  </a:lnTo>
                  <a:lnTo>
                    <a:pt x="748328" y="26274"/>
                  </a:lnTo>
                  <a:lnTo>
                    <a:pt x="739109" y="12599"/>
                  </a:lnTo>
                  <a:lnTo>
                    <a:pt x="725435" y="3380"/>
                  </a:lnTo>
                  <a:lnTo>
                    <a:pt x="70869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71" name="Google Shape;71;p8"/>
          <p:cNvSpPr txBox="1"/>
          <p:nvPr/>
        </p:nvSpPr>
        <p:spPr>
          <a:xfrm>
            <a:off x="2127221" y="1278870"/>
            <a:ext cx="15552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0255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Cambria"/>
                <a:ea typeface="Cambria"/>
                <a:cs typeface="Cambria"/>
                <a:sym typeface="Cambria"/>
              </a:rPr>
              <a:t>Web Server</a:t>
            </a:r>
            <a:endParaRPr sz="75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endParaRPr sz="75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750">
                <a:latin typeface="Cambria"/>
                <a:ea typeface="Cambria"/>
                <a:cs typeface="Cambria"/>
                <a:sym typeface="Cambria"/>
              </a:rPr>
              <a:t>Dashboard</a:t>
            </a:r>
            <a:endParaRPr sz="75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72" name="Google Shape;72;p8"/>
          <p:cNvGrpSpPr/>
          <p:nvPr/>
        </p:nvGrpSpPr>
        <p:grpSpPr>
          <a:xfrm>
            <a:off x="1589395" y="910742"/>
            <a:ext cx="398152" cy="45085"/>
            <a:chOff x="1589395" y="910742"/>
            <a:chExt cx="398152" cy="45085"/>
          </a:xfrm>
        </p:grpSpPr>
        <p:sp>
          <p:nvSpPr>
            <p:cNvPr id="73" name="Google Shape;73;p8"/>
            <p:cNvSpPr/>
            <p:nvPr/>
          </p:nvSpPr>
          <p:spPr>
            <a:xfrm>
              <a:off x="1589395" y="933112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 h="120000" extrusionOk="0">
                  <a:moveTo>
                    <a:pt x="0" y="0"/>
                  </a:moveTo>
                  <a:lnTo>
                    <a:pt x="369844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1942462" y="910742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 extrusionOk="0">
                  <a:moveTo>
                    <a:pt x="0" y="0"/>
                  </a:moveTo>
                  <a:lnTo>
                    <a:pt x="16777" y="22369"/>
                  </a:lnTo>
                  <a:lnTo>
                    <a:pt x="0" y="44738"/>
                  </a:lnTo>
                  <a:lnTo>
                    <a:pt x="44738" y="22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75" name="Google Shape;75;p8"/>
          <p:cNvSpPr txBox="1"/>
          <p:nvPr/>
        </p:nvSpPr>
        <p:spPr>
          <a:xfrm>
            <a:off x="1662011" y="799782"/>
            <a:ext cx="2526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Cambria"/>
                <a:ea typeface="Cambria"/>
                <a:cs typeface="Cambria"/>
                <a:sym typeface="Cambria"/>
              </a:rPr>
              <a:t>Request</a:t>
            </a:r>
            <a:endParaRPr sz="5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76" name="Google Shape;76;p8"/>
          <p:cNvGrpSpPr/>
          <p:nvPr/>
        </p:nvGrpSpPr>
        <p:grpSpPr>
          <a:xfrm>
            <a:off x="2723944" y="666260"/>
            <a:ext cx="314484" cy="127147"/>
            <a:chOff x="2723944" y="666260"/>
            <a:chExt cx="314484" cy="127147"/>
          </a:xfrm>
        </p:grpSpPr>
        <p:sp>
          <p:nvSpPr>
            <p:cNvPr id="77" name="Google Shape;77;p8"/>
            <p:cNvSpPr/>
            <p:nvPr/>
          </p:nvSpPr>
          <p:spPr>
            <a:xfrm>
              <a:off x="2723944" y="681012"/>
              <a:ext cx="288290" cy="112395"/>
            </a:xfrm>
            <a:custGeom>
              <a:avLst/>
              <a:gdLst/>
              <a:ahLst/>
              <a:cxnLst/>
              <a:rect l="l" t="t" r="r" b="b"/>
              <a:pathLst>
                <a:path w="288289" h="112395" extrusionOk="0">
                  <a:moveTo>
                    <a:pt x="0" y="112248"/>
                  </a:moveTo>
                  <a:lnTo>
                    <a:pt x="288071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2988263" y="666260"/>
              <a:ext cx="50165" cy="41910"/>
            </a:xfrm>
            <a:custGeom>
              <a:avLst/>
              <a:gdLst/>
              <a:ahLst/>
              <a:cxnLst/>
              <a:rect l="l" t="t" r="r" b="b"/>
              <a:pathLst>
                <a:path w="50164" h="41909" extrusionOk="0">
                  <a:moveTo>
                    <a:pt x="0" y="0"/>
                  </a:moveTo>
                  <a:lnTo>
                    <a:pt x="23752" y="14751"/>
                  </a:lnTo>
                  <a:lnTo>
                    <a:pt x="16241" y="41684"/>
                  </a:lnTo>
                  <a:lnTo>
                    <a:pt x="49805" y="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79" name="Google Shape;79;p8"/>
          <p:cNvSpPr txBox="1"/>
          <p:nvPr/>
        </p:nvSpPr>
        <p:spPr>
          <a:xfrm>
            <a:off x="2911660" y="727837"/>
            <a:ext cx="1995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Cambria"/>
                <a:ea typeface="Cambria"/>
                <a:cs typeface="Cambria"/>
                <a:sym typeface="Cambria"/>
              </a:rPr>
              <a:t>Check</a:t>
            </a:r>
            <a:endParaRPr sz="5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723758" y="1068363"/>
            <a:ext cx="314670" cy="131826"/>
            <a:chOff x="2723758" y="1068363"/>
            <a:chExt cx="314670" cy="131826"/>
          </a:xfrm>
        </p:grpSpPr>
        <p:sp>
          <p:nvSpPr>
            <p:cNvPr id="81" name="Google Shape;81;p8"/>
            <p:cNvSpPr/>
            <p:nvPr/>
          </p:nvSpPr>
          <p:spPr>
            <a:xfrm>
              <a:off x="2723944" y="1072963"/>
              <a:ext cx="288290" cy="112395"/>
            </a:xfrm>
            <a:custGeom>
              <a:avLst/>
              <a:gdLst/>
              <a:ahLst/>
              <a:cxnLst/>
              <a:rect l="l" t="t" r="r" b="b"/>
              <a:pathLst>
                <a:path w="288289" h="112394" extrusionOk="0">
                  <a:moveTo>
                    <a:pt x="0" y="0"/>
                  </a:moveTo>
                  <a:lnTo>
                    <a:pt x="288071" y="112248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2988263" y="1158279"/>
              <a:ext cx="50165" cy="41910"/>
            </a:xfrm>
            <a:custGeom>
              <a:avLst/>
              <a:gdLst/>
              <a:ahLst/>
              <a:cxnLst/>
              <a:rect l="l" t="t" r="r" b="b"/>
              <a:pathLst>
                <a:path w="50164" h="41909" extrusionOk="0">
                  <a:moveTo>
                    <a:pt x="16241" y="0"/>
                  </a:moveTo>
                  <a:lnTo>
                    <a:pt x="23752" y="26932"/>
                  </a:lnTo>
                  <a:lnTo>
                    <a:pt x="0" y="41684"/>
                  </a:lnTo>
                  <a:lnTo>
                    <a:pt x="49805" y="37084"/>
                  </a:lnTo>
                  <a:lnTo>
                    <a:pt x="162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2749811" y="1083114"/>
              <a:ext cx="288290" cy="112395"/>
            </a:xfrm>
            <a:custGeom>
              <a:avLst/>
              <a:gdLst/>
              <a:ahLst/>
              <a:cxnLst/>
              <a:rect l="l" t="t" r="r" b="b"/>
              <a:pathLst>
                <a:path w="288289" h="112394" extrusionOk="0">
                  <a:moveTo>
                    <a:pt x="288071" y="112248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2723758" y="1068363"/>
              <a:ext cx="50165" cy="41910"/>
            </a:xfrm>
            <a:custGeom>
              <a:avLst/>
              <a:gdLst/>
              <a:ahLst/>
              <a:cxnLst/>
              <a:rect l="l" t="t" r="r" b="b"/>
              <a:pathLst>
                <a:path w="50164" h="41909" extrusionOk="0">
                  <a:moveTo>
                    <a:pt x="33563" y="41684"/>
                  </a:moveTo>
                  <a:lnTo>
                    <a:pt x="26052" y="14751"/>
                  </a:lnTo>
                  <a:lnTo>
                    <a:pt x="49805" y="0"/>
                  </a:lnTo>
                  <a:lnTo>
                    <a:pt x="0" y="4600"/>
                  </a:lnTo>
                  <a:lnTo>
                    <a:pt x="33563" y="416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85" name="Google Shape;85;p8"/>
          <p:cNvSpPr txBox="1"/>
          <p:nvPr/>
        </p:nvSpPr>
        <p:spPr>
          <a:xfrm>
            <a:off x="2852126" y="1047114"/>
            <a:ext cx="290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">
                <a:latin typeface="Cambria"/>
                <a:ea typeface="Cambria"/>
                <a:cs typeface="Cambria"/>
                <a:sym typeface="Cambria"/>
              </a:rPr>
              <a:t>Response</a:t>
            </a:r>
            <a:endParaRPr sz="4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400">
                <a:latin typeface="Cambria"/>
                <a:ea typeface="Cambria"/>
                <a:cs typeface="Cambria"/>
                <a:sym typeface="Cambria"/>
              </a:rPr>
              <a:t>Fetch</a:t>
            </a:r>
            <a:endParaRPr sz="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6" name="Google Shape;86;p8"/>
          <p:cNvGrpSpPr/>
          <p:nvPr/>
        </p:nvGrpSpPr>
        <p:grpSpPr>
          <a:xfrm>
            <a:off x="1589395" y="910742"/>
            <a:ext cx="398167" cy="45085"/>
            <a:chOff x="1589395" y="910742"/>
            <a:chExt cx="398167" cy="45085"/>
          </a:xfrm>
        </p:grpSpPr>
        <p:sp>
          <p:nvSpPr>
            <p:cNvPr id="87" name="Google Shape;87;p8"/>
            <p:cNvSpPr/>
            <p:nvPr/>
          </p:nvSpPr>
          <p:spPr>
            <a:xfrm>
              <a:off x="1617357" y="933112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 h="120000" extrusionOk="0">
                  <a:moveTo>
                    <a:pt x="36984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1589395" y="910742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 extrusionOk="0">
                  <a:moveTo>
                    <a:pt x="44738" y="44738"/>
                  </a:moveTo>
                  <a:lnTo>
                    <a:pt x="27961" y="22369"/>
                  </a:lnTo>
                  <a:lnTo>
                    <a:pt x="44738" y="0"/>
                  </a:lnTo>
                  <a:lnTo>
                    <a:pt x="0" y="22369"/>
                  </a:lnTo>
                  <a:lnTo>
                    <a:pt x="44738" y="447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89" name="Google Shape;89;p8"/>
          <p:cNvSpPr txBox="1"/>
          <p:nvPr/>
        </p:nvSpPr>
        <p:spPr>
          <a:xfrm>
            <a:off x="1696501" y="944251"/>
            <a:ext cx="1842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Cambria"/>
                <a:ea typeface="Cambria"/>
                <a:cs typeface="Cambria"/>
                <a:sym typeface="Cambria"/>
              </a:rPr>
              <a:t>Reply</a:t>
            </a:r>
            <a:endParaRPr sz="5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0" name="Google Shape;90;p8"/>
          <p:cNvGrpSpPr/>
          <p:nvPr/>
        </p:nvGrpSpPr>
        <p:grpSpPr>
          <a:xfrm>
            <a:off x="2342837" y="1072963"/>
            <a:ext cx="45085" cy="398152"/>
            <a:chOff x="2342837" y="1072963"/>
            <a:chExt cx="45085" cy="398152"/>
          </a:xfrm>
        </p:grpSpPr>
        <p:sp>
          <p:nvSpPr>
            <p:cNvPr id="91" name="Google Shape;91;p8"/>
            <p:cNvSpPr/>
            <p:nvPr/>
          </p:nvSpPr>
          <p:spPr>
            <a:xfrm>
              <a:off x="2365207" y="1072963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120000" h="370205" extrusionOk="0">
                  <a:moveTo>
                    <a:pt x="0" y="0"/>
                  </a:moveTo>
                  <a:lnTo>
                    <a:pt x="0" y="369844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2342837" y="142603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 extrusionOk="0">
                  <a:moveTo>
                    <a:pt x="44738" y="0"/>
                  </a:moveTo>
                  <a:lnTo>
                    <a:pt x="22369" y="16777"/>
                  </a:lnTo>
                  <a:lnTo>
                    <a:pt x="0" y="0"/>
                  </a:lnTo>
                  <a:lnTo>
                    <a:pt x="22369" y="44738"/>
                  </a:lnTo>
                  <a:lnTo>
                    <a:pt x="447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93" name="Google Shape;93;p8"/>
          <p:cNvSpPr txBox="1"/>
          <p:nvPr/>
        </p:nvSpPr>
        <p:spPr>
          <a:xfrm>
            <a:off x="2396039" y="1210769"/>
            <a:ext cx="1581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Cambria"/>
                <a:ea typeface="Cambria"/>
                <a:cs typeface="Cambria"/>
                <a:sym typeface="Cambria"/>
              </a:rPr>
              <a:t>Logs</a:t>
            </a:r>
            <a:endParaRPr sz="5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410725" y="2277125"/>
            <a:ext cx="39093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marR="388620" lvl="0" indent="-285750" algn="just" rtl="0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mbria"/>
              <a:buAutoNum type="romanUcPeriod"/>
            </a:pPr>
            <a:r>
              <a:rPr lang="en-US" sz="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Client sends request to proxy Proxy checks cache first</a:t>
            </a:r>
            <a:endParaRPr sz="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mbria"/>
              <a:buAutoNum type="romanUcPeriod"/>
            </a:pPr>
            <a:r>
              <a:rPr lang="en-US" sz="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cached, return immediately</a:t>
            </a:r>
            <a:endParaRPr sz="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5080" lvl="0" indent="-285750" algn="just" rtl="0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mbria"/>
              <a:buAutoNum type="romanUcPeriod"/>
            </a:pPr>
            <a:r>
              <a:rPr lang="en-US" sz="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not cached, fetch from web server Cache response and return to client Log all activity to dashboard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p8"/>
          <p:cNvSpPr txBox="1"/>
          <p:nvPr/>
        </p:nvSpPr>
        <p:spPr>
          <a:xfrm>
            <a:off x="455425" y="1795850"/>
            <a:ext cx="394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Request Flow:</a:t>
            </a:r>
            <a:endParaRPr sz="10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>
            <a:spLocks noGrp="1"/>
          </p:cNvSpPr>
          <p:nvPr>
            <p:ph type="title"/>
          </p:nvPr>
        </p:nvSpPr>
        <p:spPr>
          <a:xfrm>
            <a:off x="95300" y="53125"/>
            <a:ext cx="23823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How Caching Works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47544" y="338347"/>
            <a:ext cx="15366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mbria"/>
                <a:ea typeface="Cambria"/>
                <a:cs typeface="Cambria"/>
                <a:sym typeface="Cambria"/>
              </a:rPr>
              <a:t>Three Caching Strategies: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1593333" y="595356"/>
            <a:ext cx="12237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latin typeface="Cambria"/>
                <a:ea typeface="Cambria"/>
                <a:cs typeface="Cambria"/>
                <a:sym typeface="Cambria"/>
              </a:rPr>
              <a:t>LRU Cache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289560" marR="5080" lvl="0" indent="0" algn="l" rtl="0">
              <a:lnSpc>
                <a:spcPct val="1245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68175" y="595351"/>
            <a:ext cx="12636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latin typeface="Cambria"/>
                <a:ea typeface="Cambria"/>
                <a:cs typeface="Cambria"/>
                <a:sym typeface="Cambria"/>
              </a:rPr>
              <a:t>Memory Cache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3078575" y="579902"/>
            <a:ext cx="11583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latin typeface="Cambria"/>
                <a:ea typeface="Cambria"/>
                <a:cs typeface="Cambria"/>
                <a:sym typeface="Cambria"/>
              </a:rPr>
              <a:t>Redis Cache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289560" marR="5080" lvl="0" indent="0" algn="l" rtl="0">
              <a:lnSpc>
                <a:spcPct val="1245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9"/>
          <p:cNvSpPr txBox="1"/>
          <p:nvPr/>
        </p:nvSpPr>
        <p:spPr>
          <a:xfrm>
            <a:off x="47561" y="1883175"/>
            <a:ext cx="660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2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175144" y="1899685"/>
            <a:ext cx="4331400" cy="980100"/>
          </a:xfrm>
          <a:prstGeom prst="rect">
            <a:avLst/>
          </a:prstGeom>
          <a:solidFill>
            <a:srgbClr val="F2F2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080" lvl="0" indent="0" algn="l" rtl="0">
              <a:lnSpc>
                <a:spcPct val="101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When GET request arrives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85" marR="2844165" lvl="0" indent="1904" algn="l" rtl="0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cached = cache . get( url) </a:t>
            </a:r>
            <a:r>
              <a:rPr lang="en-US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cached: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6700" lvl="0" indent="0" algn="l" rtl="0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cached	</a:t>
            </a:r>
            <a:r>
              <a:rPr lang="en-US" sz="8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Cache HIT (1 -5 ms)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255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6700" marR="972819" lvl="0" indent="0" algn="l" rtl="0">
              <a:lnSpc>
                <a:spcPct val="11875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response =  fetch_from_server ( url)	</a:t>
            </a:r>
            <a:r>
              <a:rPr lang="en-US" sz="8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(200 -500 ms) 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cache . </a:t>
            </a:r>
            <a:r>
              <a:rPr lang="en-US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( url , response )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6700" lvl="0" indent="0" algn="l" rtl="0">
              <a:lnSpc>
                <a:spcPct val="114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</a:t>
            </a:r>
            <a:r>
              <a:rPr lang="en-US" sz="800">
                <a:latin typeface="Times New Roman"/>
                <a:ea typeface="Times New Roman"/>
                <a:cs typeface="Times New Roman"/>
                <a:sym typeface="Times New Roman"/>
              </a:rPr>
              <a:t>response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113544" y="3055415"/>
            <a:ext cx="2478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Cambria"/>
                <a:ea typeface="Cambria"/>
                <a:cs typeface="Cambria"/>
                <a:sym typeface="Cambria"/>
              </a:rPr>
              <a:t>Performance: </a:t>
            </a:r>
            <a:r>
              <a:rPr lang="en-US" sz="1000">
                <a:latin typeface="Cambria"/>
                <a:ea typeface="Cambria"/>
                <a:cs typeface="Cambria"/>
                <a:sym typeface="Cambria"/>
              </a:rPr>
              <a:t>40-500x faster with cache hits!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68175" y="1547325"/>
            <a:ext cx="4369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 lvl="0" indent="0" algn="l" rtl="0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Cache Operation: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47550" y="908175"/>
            <a:ext cx="1536600" cy="6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5080" lvl="0" indent="0" algn="l" rtl="0">
              <a:lnSpc>
                <a:spcPct val="1245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Dictionary storage Fast access</a:t>
            </a:r>
            <a:endParaRPr sz="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TTL: 300s</a:t>
            </a:r>
            <a:endParaRPr sz="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Lost on restart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1520375" y="932775"/>
            <a:ext cx="1558200" cy="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5080" lvl="0" indent="0" algn="l" rtl="0">
              <a:lnSpc>
                <a:spcPct val="1245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Ordered storage </a:t>
            </a:r>
            <a:endParaRPr sz="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5080" lvl="0" indent="0" algn="l" rtl="0">
              <a:lnSpc>
                <a:spcPct val="1245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Max 100 items Evicts oldest Memory bounded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9"/>
          <p:cNvSpPr txBox="1"/>
          <p:nvPr/>
        </p:nvSpPr>
        <p:spPr>
          <a:xfrm>
            <a:off x="3086875" y="908175"/>
            <a:ext cx="11832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5080" lvl="0" indent="0" algn="l" rtl="0">
              <a:lnSpc>
                <a:spcPct val="1245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External storage Persistent Shared cache Auto fallback</a:t>
            </a:r>
            <a:endParaRPr sz="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95300" y="53125"/>
            <a:ext cx="27957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How Proxy Authentication Works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113894" y="309131"/>
            <a:ext cx="2012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Cambria"/>
                <a:ea typeface="Cambria"/>
                <a:cs typeface="Cambria"/>
                <a:sym typeface="Cambria"/>
              </a:rPr>
              <a:t>HTTP Basic Authentication Flow: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10"/>
          <p:cNvSpPr txBox="1"/>
          <p:nvPr/>
        </p:nvSpPr>
        <p:spPr>
          <a:xfrm>
            <a:off x="0" y="534526"/>
            <a:ext cx="43314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150" rIns="0" bIns="0" anchor="t" anchorCtr="0">
            <a:spAutoFit/>
          </a:bodyPr>
          <a:lstStyle/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mbria"/>
              <a:buChar char="-"/>
            </a:pPr>
            <a:r>
              <a:rPr lang="en-US" sz="1000">
                <a:latin typeface="Cambria"/>
                <a:ea typeface="Cambria"/>
                <a:cs typeface="Cambria"/>
                <a:sym typeface="Cambria"/>
              </a:rPr>
              <a:t>Client sends request WITHOUT credentials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mbria"/>
              <a:buChar char="-"/>
            </a:pPr>
            <a:r>
              <a:rPr lang="en-US" sz="1000">
                <a:latin typeface="Cambria"/>
                <a:ea typeface="Cambria"/>
                <a:cs typeface="Cambria"/>
                <a:sym typeface="Cambria"/>
              </a:rPr>
              <a:t>Proxy responds: </a:t>
            </a:r>
            <a:r>
              <a:rPr lang="en-US" sz="10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407 Proxy Authentication Required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  <a:p>
            <a:pPr marL="457200" marR="5080" lvl="0" indent="-292100" algn="l" rtl="0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SzPts val="1000"/>
              <a:buFont typeface="Cambria"/>
              <a:buChar char="-"/>
            </a:pPr>
            <a:r>
              <a:rPr lang="en-US" sz="1000">
                <a:latin typeface="Cambria"/>
                <a:ea typeface="Cambria"/>
                <a:cs typeface="Cambria"/>
                <a:sym typeface="Cambria"/>
              </a:rPr>
              <a:t>Client re-sends request WITH credentials (Base64 encoded) Proxy decodes and verifies username/password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mbria"/>
              <a:buChar char="-"/>
            </a:pPr>
            <a:r>
              <a:rPr lang="en-US" sz="1000">
                <a:latin typeface="Cambria"/>
                <a:ea typeface="Cambria"/>
                <a:cs typeface="Cambria"/>
                <a:sym typeface="Cambria"/>
              </a:rPr>
              <a:t>If valid: Process request — If invalid: Return 407 again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10"/>
          <p:cNvSpPr txBox="1"/>
          <p:nvPr/>
        </p:nvSpPr>
        <p:spPr>
          <a:xfrm>
            <a:off x="1" y="1582255"/>
            <a:ext cx="106800" cy="1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275" rIns="0" bIns="0" anchor="t" anchorCtr="0">
            <a:spAutoFit/>
          </a:bodyPr>
          <a:lstStyle/>
          <a:p>
            <a:pPr marL="527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139356" y="1582253"/>
            <a:ext cx="4331400" cy="1388100"/>
          </a:xfrm>
          <a:prstGeom prst="rect">
            <a:avLst/>
          </a:prstGeom>
          <a:solidFill>
            <a:srgbClr val="F2F2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080" lvl="0" indent="0" algn="l" rtl="0">
              <a:lnSpc>
                <a:spcPct val="101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9900"/>
                </a:solidFill>
                <a:latin typeface="Cambria"/>
                <a:ea typeface="Cambria"/>
                <a:cs typeface="Cambria"/>
                <a:sym typeface="Cambria"/>
              </a:rPr>
              <a:t># Extract  and  decode  credentials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8255" marR="1230630" lvl="0" indent="635" algn="l" rtl="0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auth_header = headers. get(</a:t>
            </a:r>
            <a:r>
              <a:rPr lang="en-US" sz="8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’ Proxy - Authorization ’</a:t>
            </a: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) auth_type , token = auth_header . split ()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8890" lvl="0" indent="0" algn="l" rtl="0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decoded = base64 . b 64 decode ( token ). decode ()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6985" lvl="0" indent="0" algn="l" rtl="0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user , password = decoded . split(</a:t>
            </a:r>
            <a:r>
              <a:rPr lang="en-US" sz="8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’:’</a:t>
            </a: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, 1)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5080" lvl="0" indent="0" algn="l" rtl="0">
              <a:lnSpc>
                <a:spcPct val="119375"/>
              </a:lnSpc>
              <a:spcBef>
                <a:spcPts val="93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9900"/>
                </a:solidFill>
                <a:latin typeface="Cambria"/>
                <a:ea typeface="Cambria"/>
                <a:cs typeface="Cambria"/>
                <a:sym typeface="Cambria"/>
              </a:rPr>
              <a:t># Verify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262890" marR="908050" lvl="0" indent="-256540" algn="l" rtl="0">
              <a:lnSpc>
                <a:spcPct val="11875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if </a:t>
            </a: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user ==  proxy_user  </a:t>
            </a:r>
            <a:r>
              <a:rPr lang="en-US" sz="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and  </a:t>
            </a: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password  ==  proxy_password : </a:t>
            </a:r>
            <a:r>
              <a:rPr lang="en-US" sz="800">
                <a:solidFill>
                  <a:srgbClr val="009900"/>
                </a:solidFill>
                <a:latin typeface="Cambria"/>
                <a:ea typeface="Cambria"/>
                <a:cs typeface="Cambria"/>
                <a:sym typeface="Cambria"/>
              </a:rPr>
              <a:t># Allow access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8255" lvl="0" indent="0" algn="l" rtl="0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else </a:t>
            </a: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: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266700" lvl="0" indent="0" algn="l" rtl="0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return </a:t>
            </a: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407	</a:t>
            </a:r>
            <a:r>
              <a:rPr lang="en-US" sz="800">
                <a:solidFill>
                  <a:srgbClr val="009900"/>
                </a:solidFill>
                <a:latin typeface="Cambria"/>
                <a:ea typeface="Cambria"/>
                <a:cs typeface="Cambria"/>
                <a:sym typeface="Cambria"/>
              </a:rPr>
              <a:t># Deny access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1355369" y="3214814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 h="120000" extrusionOk="0">
                <a:moveTo>
                  <a:pt x="0" y="0"/>
                </a:moveTo>
                <a:lnTo>
                  <a:pt x="39852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2266721" y="3214814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 h="120000" extrusionOk="0">
                <a:moveTo>
                  <a:pt x="0" y="0"/>
                </a:moveTo>
                <a:lnTo>
                  <a:pt x="39852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3244494" y="3214814"/>
            <a:ext cx="40005" cy="0"/>
          </a:xfrm>
          <a:custGeom>
            <a:avLst/>
            <a:gdLst/>
            <a:ahLst/>
            <a:cxnLst/>
            <a:rect l="l" t="t" r="r" b="b"/>
            <a:pathLst>
              <a:path w="40004" h="120000" extrusionOk="0">
                <a:moveTo>
                  <a:pt x="0" y="0"/>
                </a:moveTo>
                <a:lnTo>
                  <a:pt x="39852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10"/>
          <p:cNvSpPr txBox="1"/>
          <p:nvPr/>
        </p:nvSpPr>
        <p:spPr>
          <a:xfrm>
            <a:off x="125851" y="3057875"/>
            <a:ext cx="4331400" cy="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Cambria"/>
                <a:ea typeface="Cambria"/>
                <a:cs typeface="Cambria"/>
                <a:sym typeface="Cambria"/>
              </a:rPr>
              <a:t>Configuration: </a:t>
            </a:r>
            <a:r>
              <a:rPr lang="en-US" sz="1000">
                <a:latin typeface="Cambria"/>
                <a:ea typeface="Cambria"/>
                <a:cs typeface="Cambria"/>
                <a:sym typeface="Cambria"/>
              </a:rPr>
              <a:t>proxy user:"proxy_mehedi", proxy password: "mehedi"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>
            <a:spLocks noGrp="1"/>
          </p:cNvSpPr>
          <p:nvPr>
            <p:ph type="title"/>
          </p:nvPr>
        </p:nvSpPr>
        <p:spPr>
          <a:xfrm>
            <a:off x="95300" y="34825"/>
            <a:ext cx="325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Domain Blacklisting Works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1"/>
          <p:cNvGrpSpPr/>
          <p:nvPr/>
        </p:nvGrpSpPr>
        <p:grpSpPr>
          <a:xfrm>
            <a:off x="1839733" y="479810"/>
            <a:ext cx="929005" cy="296545"/>
            <a:chOff x="1839733" y="479810"/>
            <a:chExt cx="929005" cy="296545"/>
          </a:xfrm>
        </p:grpSpPr>
        <p:sp>
          <p:nvSpPr>
            <p:cNvPr id="131" name="Google Shape;131;p11"/>
            <p:cNvSpPr/>
            <p:nvPr/>
          </p:nvSpPr>
          <p:spPr>
            <a:xfrm>
              <a:off x="1839733" y="479810"/>
              <a:ext cx="929005" cy="296545"/>
            </a:xfrm>
            <a:custGeom>
              <a:avLst/>
              <a:gdLst/>
              <a:ahLst/>
              <a:cxnLst/>
              <a:rect l="l" t="t" r="r" b="b"/>
              <a:pathLst>
                <a:path w="929005" h="296545" extrusionOk="0">
                  <a:moveTo>
                    <a:pt x="885483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53327"/>
                  </a:lnTo>
                  <a:lnTo>
                    <a:pt x="3380" y="270072"/>
                  </a:lnTo>
                  <a:lnTo>
                    <a:pt x="12599" y="283747"/>
                  </a:lnTo>
                  <a:lnTo>
                    <a:pt x="26274" y="292966"/>
                  </a:lnTo>
                  <a:lnTo>
                    <a:pt x="43019" y="296346"/>
                  </a:lnTo>
                  <a:lnTo>
                    <a:pt x="885483" y="296346"/>
                  </a:lnTo>
                  <a:lnTo>
                    <a:pt x="902228" y="292966"/>
                  </a:lnTo>
                  <a:lnTo>
                    <a:pt x="915902" y="283747"/>
                  </a:lnTo>
                  <a:lnTo>
                    <a:pt x="925122" y="270072"/>
                  </a:lnTo>
                  <a:lnTo>
                    <a:pt x="928502" y="253327"/>
                  </a:lnTo>
                  <a:lnTo>
                    <a:pt x="928502" y="43019"/>
                  </a:lnTo>
                  <a:lnTo>
                    <a:pt x="925122" y="26274"/>
                  </a:lnTo>
                  <a:lnTo>
                    <a:pt x="915902" y="12599"/>
                  </a:lnTo>
                  <a:lnTo>
                    <a:pt x="902228" y="3380"/>
                  </a:lnTo>
                  <a:lnTo>
                    <a:pt x="885483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1839733" y="479810"/>
              <a:ext cx="929005" cy="296545"/>
            </a:xfrm>
            <a:custGeom>
              <a:avLst/>
              <a:gdLst/>
              <a:ahLst/>
              <a:cxnLst/>
              <a:rect l="l" t="t" r="r" b="b"/>
              <a:pathLst>
                <a:path w="929005" h="296545" extrusionOk="0">
                  <a:moveTo>
                    <a:pt x="885483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253327"/>
                  </a:lnTo>
                  <a:lnTo>
                    <a:pt x="3380" y="270072"/>
                  </a:lnTo>
                  <a:lnTo>
                    <a:pt x="12599" y="283747"/>
                  </a:lnTo>
                  <a:lnTo>
                    <a:pt x="26274" y="292966"/>
                  </a:lnTo>
                  <a:lnTo>
                    <a:pt x="43019" y="296346"/>
                  </a:lnTo>
                  <a:lnTo>
                    <a:pt x="885483" y="296346"/>
                  </a:lnTo>
                  <a:lnTo>
                    <a:pt x="902228" y="292966"/>
                  </a:lnTo>
                  <a:lnTo>
                    <a:pt x="915902" y="283747"/>
                  </a:lnTo>
                  <a:lnTo>
                    <a:pt x="925122" y="270072"/>
                  </a:lnTo>
                  <a:lnTo>
                    <a:pt x="928502" y="253327"/>
                  </a:lnTo>
                  <a:lnTo>
                    <a:pt x="928502" y="43019"/>
                  </a:lnTo>
                  <a:lnTo>
                    <a:pt x="925122" y="26274"/>
                  </a:lnTo>
                  <a:lnTo>
                    <a:pt x="915902" y="12599"/>
                  </a:lnTo>
                  <a:lnTo>
                    <a:pt x="902228" y="3380"/>
                  </a:lnTo>
                  <a:lnTo>
                    <a:pt x="885483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11"/>
          <p:cNvSpPr txBox="1"/>
          <p:nvPr/>
        </p:nvSpPr>
        <p:spPr>
          <a:xfrm>
            <a:off x="2004507" y="506570"/>
            <a:ext cx="5994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933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Tahoma"/>
                <a:ea typeface="Tahoma"/>
                <a:cs typeface="Tahoma"/>
                <a:sym typeface="Tahoma"/>
              </a:rPr>
              <a:t>Request: youtube.com</a:t>
            </a:r>
            <a:endParaRPr sz="7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4" name="Google Shape;134;p11"/>
          <p:cNvGrpSpPr/>
          <p:nvPr/>
        </p:nvGrpSpPr>
        <p:grpSpPr>
          <a:xfrm>
            <a:off x="1839733" y="1086463"/>
            <a:ext cx="929005" cy="214629"/>
            <a:chOff x="1839733" y="1086463"/>
            <a:chExt cx="929005" cy="214629"/>
          </a:xfrm>
        </p:grpSpPr>
        <p:sp>
          <p:nvSpPr>
            <p:cNvPr id="135" name="Google Shape;135;p11"/>
            <p:cNvSpPr/>
            <p:nvPr/>
          </p:nvSpPr>
          <p:spPr>
            <a:xfrm>
              <a:off x="1839733" y="1086463"/>
              <a:ext cx="929005" cy="214629"/>
            </a:xfrm>
            <a:custGeom>
              <a:avLst/>
              <a:gdLst/>
              <a:ahLst/>
              <a:cxnLst/>
              <a:rect l="l" t="t" r="r" b="b"/>
              <a:pathLst>
                <a:path w="929005" h="214630" extrusionOk="0">
                  <a:moveTo>
                    <a:pt x="885483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71182"/>
                  </a:lnTo>
                  <a:lnTo>
                    <a:pt x="3380" y="187927"/>
                  </a:lnTo>
                  <a:lnTo>
                    <a:pt x="12599" y="201601"/>
                  </a:lnTo>
                  <a:lnTo>
                    <a:pt x="26274" y="210821"/>
                  </a:lnTo>
                  <a:lnTo>
                    <a:pt x="43019" y="214201"/>
                  </a:lnTo>
                  <a:lnTo>
                    <a:pt x="885483" y="214201"/>
                  </a:lnTo>
                  <a:lnTo>
                    <a:pt x="902228" y="210821"/>
                  </a:lnTo>
                  <a:lnTo>
                    <a:pt x="915902" y="201601"/>
                  </a:lnTo>
                  <a:lnTo>
                    <a:pt x="925122" y="187927"/>
                  </a:lnTo>
                  <a:lnTo>
                    <a:pt x="928502" y="171182"/>
                  </a:lnTo>
                  <a:lnTo>
                    <a:pt x="928502" y="43019"/>
                  </a:lnTo>
                  <a:lnTo>
                    <a:pt x="925122" y="26274"/>
                  </a:lnTo>
                  <a:lnTo>
                    <a:pt x="915902" y="12599"/>
                  </a:lnTo>
                  <a:lnTo>
                    <a:pt x="902228" y="3380"/>
                  </a:lnTo>
                  <a:lnTo>
                    <a:pt x="885483" y="0"/>
                  </a:lnTo>
                  <a:close/>
                </a:path>
              </a:pathLst>
            </a:custGeom>
            <a:solidFill>
              <a:srgbClr val="FFFA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1839733" y="1086463"/>
              <a:ext cx="929005" cy="214629"/>
            </a:xfrm>
            <a:custGeom>
              <a:avLst/>
              <a:gdLst/>
              <a:ahLst/>
              <a:cxnLst/>
              <a:rect l="l" t="t" r="r" b="b"/>
              <a:pathLst>
                <a:path w="929005" h="214630" extrusionOk="0">
                  <a:moveTo>
                    <a:pt x="885483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71182"/>
                  </a:lnTo>
                  <a:lnTo>
                    <a:pt x="3380" y="187927"/>
                  </a:lnTo>
                  <a:lnTo>
                    <a:pt x="12599" y="201601"/>
                  </a:lnTo>
                  <a:lnTo>
                    <a:pt x="26274" y="210821"/>
                  </a:lnTo>
                  <a:lnTo>
                    <a:pt x="43019" y="214201"/>
                  </a:lnTo>
                  <a:lnTo>
                    <a:pt x="885483" y="214201"/>
                  </a:lnTo>
                  <a:lnTo>
                    <a:pt x="902228" y="210821"/>
                  </a:lnTo>
                  <a:lnTo>
                    <a:pt x="915902" y="201601"/>
                  </a:lnTo>
                  <a:lnTo>
                    <a:pt x="925122" y="187927"/>
                  </a:lnTo>
                  <a:lnTo>
                    <a:pt x="928502" y="171182"/>
                  </a:lnTo>
                  <a:lnTo>
                    <a:pt x="928502" y="43019"/>
                  </a:lnTo>
                  <a:lnTo>
                    <a:pt x="925122" y="26274"/>
                  </a:lnTo>
                  <a:lnTo>
                    <a:pt x="915902" y="12599"/>
                  </a:lnTo>
                  <a:lnTo>
                    <a:pt x="902228" y="3380"/>
                  </a:lnTo>
                  <a:lnTo>
                    <a:pt x="885483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1"/>
          <p:cNvSpPr txBox="1"/>
          <p:nvPr/>
        </p:nvSpPr>
        <p:spPr>
          <a:xfrm>
            <a:off x="1946697" y="1115179"/>
            <a:ext cx="1008852" cy="14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latin typeface="Tahoma"/>
                <a:ea typeface="Tahoma"/>
                <a:cs typeface="Tahoma"/>
                <a:sym typeface="Tahoma"/>
              </a:rPr>
              <a:t>Check Blacklist</a:t>
            </a:r>
            <a:endParaRPr sz="850" dirty="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8" name="Google Shape;138;p11"/>
          <p:cNvGrpSpPr/>
          <p:nvPr/>
        </p:nvGrpSpPr>
        <p:grpSpPr>
          <a:xfrm>
            <a:off x="690551" y="1521344"/>
            <a:ext cx="929005" cy="214629"/>
            <a:chOff x="690551" y="1521344"/>
            <a:chExt cx="929005" cy="214629"/>
          </a:xfrm>
        </p:grpSpPr>
        <p:sp>
          <p:nvSpPr>
            <p:cNvPr id="139" name="Google Shape;139;p11"/>
            <p:cNvSpPr/>
            <p:nvPr/>
          </p:nvSpPr>
          <p:spPr>
            <a:xfrm>
              <a:off x="690551" y="1521344"/>
              <a:ext cx="929005" cy="214629"/>
            </a:xfrm>
            <a:custGeom>
              <a:avLst/>
              <a:gdLst/>
              <a:ahLst/>
              <a:cxnLst/>
              <a:rect l="l" t="t" r="r" b="b"/>
              <a:pathLst>
                <a:path w="929005" h="214630" extrusionOk="0">
                  <a:moveTo>
                    <a:pt x="885483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71182"/>
                  </a:lnTo>
                  <a:lnTo>
                    <a:pt x="3380" y="187927"/>
                  </a:lnTo>
                  <a:lnTo>
                    <a:pt x="12599" y="201601"/>
                  </a:lnTo>
                  <a:lnTo>
                    <a:pt x="26274" y="210821"/>
                  </a:lnTo>
                  <a:lnTo>
                    <a:pt x="43019" y="214201"/>
                  </a:lnTo>
                  <a:lnTo>
                    <a:pt x="885483" y="214201"/>
                  </a:lnTo>
                  <a:lnTo>
                    <a:pt x="902228" y="210821"/>
                  </a:lnTo>
                  <a:lnTo>
                    <a:pt x="915903" y="201601"/>
                  </a:lnTo>
                  <a:lnTo>
                    <a:pt x="925122" y="187927"/>
                  </a:lnTo>
                  <a:lnTo>
                    <a:pt x="928502" y="171182"/>
                  </a:lnTo>
                  <a:lnTo>
                    <a:pt x="928502" y="43019"/>
                  </a:lnTo>
                  <a:lnTo>
                    <a:pt x="925122" y="26274"/>
                  </a:lnTo>
                  <a:lnTo>
                    <a:pt x="915903" y="12599"/>
                  </a:lnTo>
                  <a:lnTo>
                    <a:pt x="902228" y="3380"/>
                  </a:lnTo>
                  <a:lnTo>
                    <a:pt x="885483" y="0"/>
                  </a:lnTo>
                  <a:close/>
                </a:path>
              </a:pathLst>
            </a:custGeom>
            <a:solidFill>
              <a:srgbClr val="FFB2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690551" y="1521344"/>
              <a:ext cx="929005" cy="214629"/>
            </a:xfrm>
            <a:custGeom>
              <a:avLst/>
              <a:gdLst/>
              <a:ahLst/>
              <a:cxnLst/>
              <a:rect l="l" t="t" r="r" b="b"/>
              <a:pathLst>
                <a:path w="929005" h="214630" extrusionOk="0">
                  <a:moveTo>
                    <a:pt x="885483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71182"/>
                  </a:lnTo>
                  <a:lnTo>
                    <a:pt x="3380" y="187927"/>
                  </a:lnTo>
                  <a:lnTo>
                    <a:pt x="12599" y="201602"/>
                  </a:lnTo>
                  <a:lnTo>
                    <a:pt x="26274" y="210821"/>
                  </a:lnTo>
                  <a:lnTo>
                    <a:pt x="43019" y="214201"/>
                  </a:lnTo>
                  <a:lnTo>
                    <a:pt x="885483" y="214201"/>
                  </a:lnTo>
                  <a:lnTo>
                    <a:pt x="902228" y="210821"/>
                  </a:lnTo>
                  <a:lnTo>
                    <a:pt x="915903" y="201602"/>
                  </a:lnTo>
                  <a:lnTo>
                    <a:pt x="925122" y="187927"/>
                  </a:lnTo>
                  <a:lnTo>
                    <a:pt x="928503" y="171182"/>
                  </a:lnTo>
                  <a:lnTo>
                    <a:pt x="928503" y="43019"/>
                  </a:lnTo>
                  <a:lnTo>
                    <a:pt x="925122" y="26274"/>
                  </a:lnTo>
                  <a:lnTo>
                    <a:pt x="915903" y="12599"/>
                  </a:lnTo>
                  <a:lnTo>
                    <a:pt x="902228" y="3380"/>
                  </a:lnTo>
                  <a:lnTo>
                    <a:pt x="885483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11"/>
          <p:cNvSpPr txBox="1"/>
          <p:nvPr/>
        </p:nvSpPr>
        <p:spPr>
          <a:xfrm>
            <a:off x="822940" y="1564913"/>
            <a:ext cx="6642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Tahoma"/>
                <a:ea typeface="Tahoma"/>
                <a:cs typeface="Tahoma"/>
                <a:sym typeface="Tahoma"/>
              </a:rPr>
              <a:t>403 Forbidden</a:t>
            </a:r>
            <a:endParaRPr sz="7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2" name="Google Shape;142;p11"/>
          <p:cNvGrpSpPr/>
          <p:nvPr/>
        </p:nvGrpSpPr>
        <p:grpSpPr>
          <a:xfrm>
            <a:off x="2988915" y="1521344"/>
            <a:ext cx="929005" cy="214629"/>
            <a:chOff x="2988915" y="1521344"/>
            <a:chExt cx="929005" cy="214629"/>
          </a:xfrm>
        </p:grpSpPr>
        <p:sp>
          <p:nvSpPr>
            <p:cNvPr id="143" name="Google Shape;143;p11"/>
            <p:cNvSpPr/>
            <p:nvPr/>
          </p:nvSpPr>
          <p:spPr>
            <a:xfrm>
              <a:off x="2988915" y="1521344"/>
              <a:ext cx="929005" cy="214629"/>
            </a:xfrm>
            <a:custGeom>
              <a:avLst/>
              <a:gdLst/>
              <a:ahLst/>
              <a:cxnLst/>
              <a:rect l="l" t="t" r="r" b="b"/>
              <a:pathLst>
                <a:path w="929004" h="214630" extrusionOk="0">
                  <a:moveTo>
                    <a:pt x="885483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71182"/>
                  </a:lnTo>
                  <a:lnTo>
                    <a:pt x="3380" y="187927"/>
                  </a:lnTo>
                  <a:lnTo>
                    <a:pt x="12599" y="201601"/>
                  </a:lnTo>
                  <a:lnTo>
                    <a:pt x="26274" y="210821"/>
                  </a:lnTo>
                  <a:lnTo>
                    <a:pt x="43019" y="214201"/>
                  </a:lnTo>
                  <a:lnTo>
                    <a:pt x="885483" y="214201"/>
                  </a:lnTo>
                  <a:lnTo>
                    <a:pt x="902228" y="210821"/>
                  </a:lnTo>
                  <a:lnTo>
                    <a:pt x="915903" y="201601"/>
                  </a:lnTo>
                  <a:lnTo>
                    <a:pt x="925122" y="187927"/>
                  </a:lnTo>
                  <a:lnTo>
                    <a:pt x="928502" y="171182"/>
                  </a:lnTo>
                  <a:lnTo>
                    <a:pt x="928502" y="43019"/>
                  </a:lnTo>
                  <a:lnTo>
                    <a:pt x="925122" y="26274"/>
                  </a:lnTo>
                  <a:lnTo>
                    <a:pt x="915903" y="12599"/>
                  </a:lnTo>
                  <a:lnTo>
                    <a:pt x="902228" y="3380"/>
                  </a:lnTo>
                  <a:lnTo>
                    <a:pt x="885483" y="0"/>
                  </a:lnTo>
                  <a:close/>
                </a:path>
              </a:pathLst>
            </a:custGeom>
            <a:solidFill>
              <a:srgbClr val="B2FF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2988915" y="1521344"/>
              <a:ext cx="929005" cy="214629"/>
            </a:xfrm>
            <a:custGeom>
              <a:avLst/>
              <a:gdLst/>
              <a:ahLst/>
              <a:cxnLst/>
              <a:rect l="l" t="t" r="r" b="b"/>
              <a:pathLst>
                <a:path w="929004" h="214630" extrusionOk="0">
                  <a:moveTo>
                    <a:pt x="885483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71182"/>
                  </a:lnTo>
                  <a:lnTo>
                    <a:pt x="3380" y="187927"/>
                  </a:lnTo>
                  <a:lnTo>
                    <a:pt x="12599" y="201602"/>
                  </a:lnTo>
                  <a:lnTo>
                    <a:pt x="26274" y="210821"/>
                  </a:lnTo>
                  <a:lnTo>
                    <a:pt x="43019" y="214201"/>
                  </a:lnTo>
                  <a:lnTo>
                    <a:pt x="885483" y="214201"/>
                  </a:lnTo>
                  <a:lnTo>
                    <a:pt x="902228" y="210821"/>
                  </a:lnTo>
                  <a:lnTo>
                    <a:pt x="915903" y="201602"/>
                  </a:lnTo>
                  <a:lnTo>
                    <a:pt x="925122" y="187927"/>
                  </a:lnTo>
                  <a:lnTo>
                    <a:pt x="928503" y="171182"/>
                  </a:lnTo>
                  <a:lnTo>
                    <a:pt x="928503" y="43019"/>
                  </a:lnTo>
                  <a:lnTo>
                    <a:pt x="925122" y="26274"/>
                  </a:lnTo>
                  <a:lnTo>
                    <a:pt x="915903" y="12599"/>
                  </a:lnTo>
                  <a:lnTo>
                    <a:pt x="902228" y="3380"/>
                  </a:lnTo>
                  <a:lnTo>
                    <a:pt x="885483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3074678" y="1564902"/>
            <a:ext cx="7575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Tahoma"/>
                <a:ea typeface="Tahoma"/>
                <a:cs typeface="Tahoma"/>
                <a:sym typeface="Tahoma"/>
              </a:rPr>
              <a:t>Process Request</a:t>
            </a:r>
            <a:endParaRPr sz="7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6" name="Google Shape;146;p11"/>
          <p:cNvGrpSpPr/>
          <p:nvPr/>
        </p:nvGrpSpPr>
        <p:grpSpPr>
          <a:xfrm>
            <a:off x="1443370" y="778308"/>
            <a:ext cx="883330" cy="746043"/>
            <a:chOff x="1443370" y="778308"/>
            <a:chExt cx="883330" cy="746043"/>
          </a:xfrm>
        </p:grpSpPr>
        <p:sp>
          <p:nvSpPr>
            <p:cNvPr id="147" name="Google Shape;147;p11"/>
            <p:cNvSpPr/>
            <p:nvPr/>
          </p:nvSpPr>
          <p:spPr>
            <a:xfrm>
              <a:off x="2303985" y="778308"/>
              <a:ext cx="0" cy="278130"/>
            </a:xfrm>
            <a:custGeom>
              <a:avLst/>
              <a:gdLst/>
              <a:ahLst/>
              <a:cxnLst/>
              <a:rect l="l" t="t" r="r" b="b"/>
              <a:pathLst>
                <a:path w="120000" h="278130" extrusionOk="0">
                  <a:moveTo>
                    <a:pt x="0" y="0"/>
                  </a:moveTo>
                  <a:lnTo>
                    <a:pt x="0" y="278041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2281615" y="1039573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 extrusionOk="0">
                  <a:moveTo>
                    <a:pt x="44738" y="0"/>
                  </a:moveTo>
                  <a:lnTo>
                    <a:pt x="22369" y="16777"/>
                  </a:lnTo>
                  <a:lnTo>
                    <a:pt x="0" y="0"/>
                  </a:lnTo>
                  <a:lnTo>
                    <a:pt x="22369" y="44738"/>
                  </a:lnTo>
                  <a:lnTo>
                    <a:pt x="447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1469522" y="1302815"/>
              <a:ext cx="546100" cy="207010"/>
            </a:xfrm>
            <a:custGeom>
              <a:avLst/>
              <a:gdLst/>
              <a:ahLst/>
              <a:cxnLst/>
              <a:rect l="l" t="t" r="r" b="b"/>
              <a:pathLst>
                <a:path w="546100" h="207009" extrusionOk="0">
                  <a:moveTo>
                    <a:pt x="545786" y="0"/>
                  </a:moveTo>
                  <a:lnTo>
                    <a:pt x="0" y="206483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1443370" y="1482441"/>
              <a:ext cx="50165" cy="41910"/>
            </a:xfrm>
            <a:custGeom>
              <a:avLst/>
              <a:gdLst/>
              <a:ahLst/>
              <a:cxnLst/>
              <a:rect l="l" t="t" r="r" b="b"/>
              <a:pathLst>
                <a:path w="50165" h="41909" extrusionOk="0">
                  <a:moveTo>
                    <a:pt x="49757" y="41842"/>
                  </a:moveTo>
                  <a:lnTo>
                    <a:pt x="26151" y="26857"/>
                  </a:lnTo>
                  <a:lnTo>
                    <a:pt x="33927" y="0"/>
                  </a:lnTo>
                  <a:lnTo>
                    <a:pt x="0" y="36751"/>
                  </a:lnTo>
                  <a:lnTo>
                    <a:pt x="49757" y="418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" name="Google Shape;151;p11"/>
          <p:cNvSpPr txBox="1"/>
          <p:nvPr/>
        </p:nvSpPr>
        <p:spPr>
          <a:xfrm>
            <a:off x="1487138" y="1296533"/>
            <a:ext cx="2088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Arial"/>
                <a:ea typeface="Arial"/>
                <a:cs typeface="Arial"/>
                <a:sym typeface="Arial"/>
              </a:rPr>
              <a:t>Match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11"/>
          <p:cNvGrpSpPr/>
          <p:nvPr/>
        </p:nvGrpSpPr>
        <p:grpSpPr>
          <a:xfrm>
            <a:off x="2592661" y="1302815"/>
            <a:ext cx="572345" cy="221536"/>
            <a:chOff x="2592661" y="1302815"/>
            <a:chExt cx="572345" cy="221536"/>
          </a:xfrm>
        </p:grpSpPr>
        <p:sp>
          <p:nvSpPr>
            <p:cNvPr id="153" name="Google Shape;153;p11"/>
            <p:cNvSpPr/>
            <p:nvPr/>
          </p:nvSpPr>
          <p:spPr>
            <a:xfrm>
              <a:off x="2592661" y="1302815"/>
              <a:ext cx="546100" cy="207010"/>
            </a:xfrm>
            <a:custGeom>
              <a:avLst/>
              <a:gdLst/>
              <a:ahLst/>
              <a:cxnLst/>
              <a:rect l="l" t="t" r="r" b="b"/>
              <a:pathLst>
                <a:path w="546100" h="207009" extrusionOk="0">
                  <a:moveTo>
                    <a:pt x="0" y="0"/>
                  </a:moveTo>
                  <a:lnTo>
                    <a:pt x="545786" y="206483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3114841" y="1482441"/>
              <a:ext cx="50165" cy="41910"/>
            </a:xfrm>
            <a:custGeom>
              <a:avLst/>
              <a:gdLst/>
              <a:ahLst/>
              <a:cxnLst/>
              <a:rect l="l" t="t" r="r" b="b"/>
              <a:pathLst>
                <a:path w="50164" h="41909" extrusionOk="0">
                  <a:moveTo>
                    <a:pt x="15830" y="0"/>
                  </a:moveTo>
                  <a:lnTo>
                    <a:pt x="23606" y="26857"/>
                  </a:lnTo>
                  <a:lnTo>
                    <a:pt x="0" y="41842"/>
                  </a:lnTo>
                  <a:lnTo>
                    <a:pt x="49757" y="36751"/>
                  </a:lnTo>
                  <a:lnTo>
                    <a:pt x="158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11"/>
          <p:cNvSpPr txBox="1"/>
          <p:nvPr/>
        </p:nvSpPr>
        <p:spPr>
          <a:xfrm>
            <a:off x="2885946" y="1302820"/>
            <a:ext cx="3150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Arial"/>
                <a:ea typeface="Arial"/>
                <a:cs typeface="Arial"/>
                <a:sym typeface="Arial"/>
              </a:rPr>
              <a:t>No Match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1" y="1820338"/>
            <a:ext cx="106800" cy="1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275" rIns="0" bIns="0" anchor="t" anchorCtr="0">
            <a:spAutoFit/>
          </a:bodyPr>
          <a:lstStyle/>
          <a:p>
            <a:pPr marL="527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139356" y="1820360"/>
            <a:ext cx="4331400" cy="1545000"/>
          </a:xfrm>
          <a:prstGeom prst="rect">
            <a:avLst/>
          </a:prstGeom>
          <a:solidFill>
            <a:srgbClr val="F2F2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620" lvl="0" indent="0" algn="l" rtl="0">
              <a:lnSpc>
                <a:spcPct val="101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is_blacklisted ( url):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26670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domain = extract_domain ( url)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523240" marR="1878329" lvl="0" indent="-257810" algn="l" rtl="0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blocked_domain </a:t>
            </a:r>
            <a:r>
              <a:rPr lang="en-U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blacklist: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980439" marR="1878329" lvl="0" indent="-257809" algn="l" rtl="0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domain == blocked_domain </a:t>
            </a:r>
            <a:r>
              <a:rPr lang="en-U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 domain. endswith (</a:t>
            </a:r>
            <a:r>
              <a:rPr lang="en-US" sz="8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"." </a:t>
            </a: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+ blocked_domain ):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266700" marR="2847340" lvl="0" indent="515619" algn="l" rtl="0">
              <a:lnSpc>
                <a:spcPct val="11875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True </a:t>
            </a:r>
            <a:r>
              <a:rPr lang="en-U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False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5080" lvl="0" indent="0" algn="l" rtl="0">
              <a:lnSpc>
                <a:spcPct val="1193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# In request handler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6985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is_blacklisted ( url):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266700" lvl="0" indent="0" algn="l" rtl="0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-US" sz="8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" HTTP /1.1 403 Forbidden "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-44725" y="286563"/>
            <a:ext cx="245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3180" lvl="0" indent="0" algn="l" rtl="0"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</a:rPr>
              <a:t>Blocking Unwanted Websites:</a:t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95300" y="34825"/>
            <a:ext cx="2938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How HTTPS Tunneling Works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64" name="Google Shape;164;p12"/>
          <p:cNvGrpSpPr/>
          <p:nvPr/>
        </p:nvGrpSpPr>
        <p:grpSpPr>
          <a:xfrm>
            <a:off x="876346" y="974471"/>
            <a:ext cx="683895" cy="184150"/>
            <a:chOff x="876346" y="974471"/>
            <a:chExt cx="683895" cy="184150"/>
          </a:xfrm>
        </p:grpSpPr>
        <p:sp>
          <p:nvSpPr>
            <p:cNvPr id="165" name="Google Shape;165;p12"/>
            <p:cNvSpPr/>
            <p:nvPr/>
          </p:nvSpPr>
          <p:spPr>
            <a:xfrm>
              <a:off x="876346" y="974471"/>
              <a:ext cx="683895" cy="184150"/>
            </a:xfrm>
            <a:custGeom>
              <a:avLst/>
              <a:gdLst/>
              <a:ahLst/>
              <a:cxnLst/>
              <a:rect l="l" t="t" r="r" b="b"/>
              <a:pathLst>
                <a:path w="683894" h="184150" extrusionOk="0">
                  <a:moveTo>
                    <a:pt x="640679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40584"/>
                  </a:lnTo>
                  <a:lnTo>
                    <a:pt x="3380" y="157329"/>
                  </a:lnTo>
                  <a:lnTo>
                    <a:pt x="12599" y="171004"/>
                  </a:lnTo>
                  <a:lnTo>
                    <a:pt x="26274" y="180223"/>
                  </a:lnTo>
                  <a:lnTo>
                    <a:pt x="43019" y="183603"/>
                  </a:lnTo>
                  <a:lnTo>
                    <a:pt x="640679" y="183603"/>
                  </a:lnTo>
                  <a:lnTo>
                    <a:pt x="657424" y="180223"/>
                  </a:lnTo>
                  <a:lnTo>
                    <a:pt x="671098" y="171004"/>
                  </a:lnTo>
                  <a:lnTo>
                    <a:pt x="680317" y="157329"/>
                  </a:lnTo>
                  <a:lnTo>
                    <a:pt x="683698" y="140584"/>
                  </a:lnTo>
                  <a:lnTo>
                    <a:pt x="683698" y="43019"/>
                  </a:lnTo>
                  <a:lnTo>
                    <a:pt x="680317" y="26274"/>
                  </a:lnTo>
                  <a:lnTo>
                    <a:pt x="671098" y="12599"/>
                  </a:lnTo>
                  <a:lnTo>
                    <a:pt x="657424" y="3380"/>
                  </a:lnTo>
                  <a:lnTo>
                    <a:pt x="64067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876346" y="974471"/>
              <a:ext cx="683895" cy="184150"/>
            </a:xfrm>
            <a:custGeom>
              <a:avLst/>
              <a:gdLst/>
              <a:ahLst/>
              <a:cxnLst/>
              <a:rect l="l" t="t" r="r" b="b"/>
              <a:pathLst>
                <a:path w="683894" h="184150" extrusionOk="0">
                  <a:moveTo>
                    <a:pt x="640679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40584"/>
                  </a:lnTo>
                  <a:lnTo>
                    <a:pt x="3380" y="157329"/>
                  </a:lnTo>
                  <a:lnTo>
                    <a:pt x="12599" y="171004"/>
                  </a:lnTo>
                  <a:lnTo>
                    <a:pt x="26274" y="180223"/>
                  </a:lnTo>
                  <a:lnTo>
                    <a:pt x="43019" y="183603"/>
                  </a:lnTo>
                  <a:lnTo>
                    <a:pt x="640679" y="183603"/>
                  </a:lnTo>
                  <a:lnTo>
                    <a:pt x="657424" y="180223"/>
                  </a:lnTo>
                  <a:lnTo>
                    <a:pt x="671098" y="171004"/>
                  </a:lnTo>
                  <a:lnTo>
                    <a:pt x="680317" y="157329"/>
                  </a:lnTo>
                  <a:lnTo>
                    <a:pt x="683698" y="140584"/>
                  </a:lnTo>
                  <a:lnTo>
                    <a:pt x="683698" y="43019"/>
                  </a:lnTo>
                  <a:lnTo>
                    <a:pt x="680317" y="26274"/>
                  </a:lnTo>
                  <a:lnTo>
                    <a:pt x="671098" y="12599"/>
                  </a:lnTo>
                  <a:lnTo>
                    <a:pt x="657424" y="3380"/>
                  </a:lnTo>
                  <a:lnTo>
                    <a:pt x="64067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67" name="Google Shape;167;p12"/>
          <p:cNvSpPr txBox="1"/>
          <p:nvPr/>
        </p:nvSpPr>
        <p:spPr>
          <a:xfrm>
            <a:off x="1084214" y="990385"/>
            <a:ext cx="267900" cy="1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Cambria"/>
                <a:ea typeface="Cambria"/>
                <a:cs typeface="Cambria"/>
                <a:sym typeface="Cambria"/>
              </a:rPr>
              <a:t>Client</a:t>
            </a:r>
            <a:endParaRPr sz="75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68" name="Google Shape;168;p12"/>
          <p:cNvGrpSpPr/>
          <p:nvPr/>
        </p:nvGrpSpPr>
        <p:grpSpPr>
          <a:xfrm>
            <a:off x="1962153" y="974471"/>
            <a:ext cx="683895" cy="184150"/>
            <a:chOff x="1962153" y="974471"/>
            <a:chExt cx="683895" cy="184150"/>
          </a:xfrm>
        </p:grpSpPr>
        <p:sp>
          <p:nvSpPr>
            <p:cNvPr id="169" name="Google Shape;169;p12"/>
            <p:cNvSpPr/>
            <p:nvPr/>
          </p:nvSpPr>
          <p:spPr>
            <a:xfrm>
              <a:off x="1962153" y="974471"/>
              <a:ext cx="683895" cy="184150"/>
            </a:xfrm>
            <a:custGeom>
              <a:avLst/>
              <a:gdLst/>
              <a:ahLst/>
              <a:cxnLst/>
              <a:rect l="l" t="t" r="r" b="b"/>
              <a:pathLst>
                <a:path w="683894" h="184150" extrusionOk="0">
                  <a:moveTo>
                    <a:pt x="640679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40584"/>
                  </a:lnTo>
                  <a:lnTo>
                    <a:pt x="3380" y="157329"/>
                  </a:lnTo>
                  <a:lnTo>
                    <a:pt x="12599" y="171004"/>
                  </a:lnTo>
                  <a:lnTo>
                    <a:pt x="26274" y="180223"/>
                  </a:lnTo>
                  <a:lnTo>
                    <a:pt x="43019" y="183603"/>
                  </a:lnTo>
                  <a:lnTo>
                    <a:pt x="640679" y="183603"/>
                  </a:lnTo>
                  <a:lnTo>
                    <a:pt x="657424" y="180223"/>
                  </a:lnTo>
                  <a:lnTo>
                    <a:pt x="671098" y="171004"/>
                  </a:lnTo>
                  <a:lnTo>
                    <a:pt x="680318" y="157329"/>
                  </a:lnTo>
                  <a:lnTo>
                    <a:pt x="683698" y="140584"/>
                  </a:lnTo>
                  <a:lnTo>
                    <a:pt x="683698" y="43019"/>
                  </a:lnTo>
                  <a:lnTo>
                    <a:pt x="680318" y="26274"/>
                  </a:lnTo>
                  <a:lnTo>
                    <a:pt x="671098" y="12599"/>
                  </a:lnTo>
                  <a:lnTo>
                    <a:pt x="657424" y="3380"/>
                  </a:lnTo>
                  <a:lnTo>
                    <a:pt x="640679" y="0"/>
                  </a:lnTo>
                  <a:close/>
                </a:path>
              </a:pathLst>
            </a:custGeom>
            <a:solidFill>
              <a:srgbClr val="FFFA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70" name="Google Shape;170;p12"/>
            <p:cNvSpPr/>
            <p:nvPr/>
          </p:nvSpPr>
          <p:spPr>
            <a:xfrm>
              <a:off x="1962153" y="974471"/>
              <a:ext cx="683895" cy="184150"/>
            </a:xfrm>
            <a:custGeom>
              <a:avLst/>
              <a:gdLst/>
              <a:ahLst/>
              <a:cxnLst/>
              <a:rect l="l" t="t" r="r" b="b"/>
              <a:pathLst>
                <a:path w="683894" h="184150" extrusionOk="0">
                  <a:moveTo>
                    <a:pt x="640679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40584"/>
                  </a:lnTo>
                  <a:lnTo>
                    <a:pt x="3380" y="157329"/>
                  </a:lnTo>
                  <a:lnTo>
                    <a:pt x="12599" y="171004"/>
                  </a:lnTo>
                  <a:lnTo>
                    <a:pt x="26274" y="180223"/>
                  </a:lnTo>
                  <a:lnTo>
                    <a:pt x="43019" y="183603"/>
                  </a:lnTo>
                  <a:lnTo>
                    <a:pt x="640679" y="183603"/>
                  </a:lnTo>
                  <a:lnTo>
                    <a:pt x="657424" y="180223"/>
                  </a:lnTo>
                  <a:lnTo>
                    <a:pt x="671098" y="171004"/>
                  </a:lnTo>
                  <a:lnTo>
                    <a:pt x="680318" y="157329"/>
                  </a:lnTo>
                  <a:lnTo>
                    <a:pt x="683698" y="140584"/>
                  </a:lnTo>
                  <a:lnTo>
                    <a:pt x="683698" y="43019"/>
                  </a:lnTo>
                  <a:lnTo>
                    <a:pt x="680318" y="26274"/>
                  </a:lnTo>
                  <a:lnTo>
                    <a:pt x="671098" y="12599"/>
                  </a:lnTo>
                  <a:lnTo>
                    <a:pt x="657424" y="3380"/>
                  </a:lnTo>
                  <a:lnTo>
                    <a:pt x="64067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1" name="Google Shape;171;p12"/>
          <p:cNvSpPr txBox="1"/>
          <p:nvPr/>
        </p:nvSpPr>
        <p:spPr>
          <a:xfrm>
            <a:off x="2173138" y="980972"/>
            <a:ext cx="262200" cy="1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Cambria"/>
                <a:ea typeface="Cambria"/>
                <a:cs typeface="Cambria"/>
                <a:sym typeface="Cambria"/>
              </a:rPr>
              <a:t>Proxy</a:t>
            </a:r>
            <a:endParaRPr sz="75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72" name="Google Shape;172;p12"/>
          <p:cNvGrpSpPr/>
          <p:nvPr/>
        </p:nvGrpSpPr>
        <p:grpSpPr>
          <a:xfrm>
            <a:off x="3047959" y="974471"/>
            <a:ext cx="683895" cy="184150"/>
            <a:chOff x="3047959" y="974471"/>
            <a:chExt cx="683895" cy="184150"/>
          </a:xfrm>
        </p:grpSpPr>
        <p:sp>
          <p:nvSpPr>
            <p:cNvPr id="173" name="Google Shape;173;p12"/>
            <p:cNvSpPr/>
            <p:nvPr/>
          </p:nvSpPr>
          <p:spPr>
            <a:xfrm>
              <a:off x="3047959" y="974471"/>
              <a:ext cx="683895" cy="184150"/>
            </a:xfrm>
            <a:custGeom>
              <a:avLst/>
              <a:gdLst/>
              <a:ahLst/>
              <a:cxnLst/>
              <a:rect l="l" t="t" r="r" b="b"/>
              <a:pathLst>
                <a:path w="683895" h="184150" extrusionOk="0">
                  <a:moveTo>
                    <a:pt x="640679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40584"/>
                  </a:lnTo>
                  <a:lnTo>
                    <a:pt x="3380" y="157329"/>
                  </a:lnTo>
                  <a:lnTo>
                    <a:pt x="12599" y="171004"/>
                  </a:lnTo>
                  <a:lnTo>
                    <a:pt x="26274" y="180223"/>
                  </a:lnTo>
                  <a:lnTo>
                    <a:pt x="43019" y="183603"/>
                  </a:lnTo>
                  <a:lnTo>
                    <a:pt x="640679" y="183603"/>
                  </a:lnTo>
                  <a:lnTo>
                    <a:pt x="657424" y="180223"/>
                  </a:lnTo>
                  <a:lnTo>
                    <a:pt x="671098" y="171004"/>
                  </a:lnTo>
                  <a:lnTo>
                    <a:pt x="680317" y="157329"/>
                  </a:lnTo>
                  <a:lnTo>
                    <a:pt x="683698" y="140584"/>
                  </a:lnTo>
                  <a:lnTo>
                    <a:pt x="683698" y="43019"/>
                  </a:lnTo>
                  <a:lnTo>
                    <a:pt x="680317" y="26274"/>
                  </a:lnTo>
                  <a:lnTo>
                    <a:pt x="671098" y="12599"/>
                  </a:lnTo>
                  <a:lnTo>
                    <a:pt x="657424" y="3380"/>
                  </a:lnTo>
                  <a:lnTo>
                    <a:pt x="640679" y="0"/>
                  </a:lnTo>
                  <a:close/>
                </a:path>
              </a:pathLst>
            </a:custGeom>
            <a:solidFill>
              <a:srgbClr val="B2FF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74" name="Google Shape;174;p12"/>
            <p:cNvSpPr/>
            <p:nvPr/>
          </p:nvSpPr>
          <p:spPr>
            <a:xfrm>
              <a:off x="3047959" y="974471"/>
              <a:ext cx="683895" cy="184150"/>
            </a:xfrm>
            <a:custGeom>
              <a:avLst/>
              <a:gdLst/>
              <a:ahLst/>
              <a:cxnLst/>
              <a:rect l="l" t="t" r="r" b="b"/>
              <a:pathLst>
                <a:path w="683895" h="184150" extrusionOk="0">
                  <a:moveTo>
                    <a:pt x="640679" y="0"/>
                  </a:moveTo>
                  <a:lnTo>
                    <a:pt x="43019" y="0"/>
                  </a:lnTo>
                  <a:lnTo>
                    <a:pt x="26274" y="3380"/>
                  </a:lnTo>
                  <a:lnTo>
                    <a:pt x="12599" y="12599"/>
                  </a:lnTo>
                  <a:lnTo>
                    <a:pt x="3380" y="26274"/>
                  </a:lnTo>
                  <a:lnTo>
                    <a:pt x="0" y="43019"/>
                  </a:lnTo>
                  <a:lnTo>
                    <a:pt x="0" y="140584"/>
                  </a:lnTo>
                  <a:lnTo>
                    <a:pt x="3380" y="157329"/>
                  </a:lnTo>
                  <a:lnTo>
                    <a:pt x="12599" y="171004"/>
                  </a:lnTo>
                  <a:lnTo>
                    <a:pt x="26274" y="180223"/>
                  </a:lnTo>
                  <a:lnTo>
                    <a:pt x="43019" y="183603"/>
                  </a:lnTo>
                  <a:lnTo>
                    <a:pt x="640679" y="183603"/>
                  </a:lnTo>
                  <a:lnTo>
                    <a:pt x="657424" y="180223"/>
                  </a:lnTo>
                  <a:lnTo>
                    <a:pt x="671098" y="171004"/>
                  </a:lnTo>
                  <a:lnTo>
                    <a:pt x="680317" y="157329"/>
                  </a:lnTo>
                  <a:lnTo>
                    <a:pt x="683698" y="140584"/>
                  </a:lnTo>
                  <a:lnTo>
                    <a:pt x="683698" y="43019"/>
                  </a:lnTo>
                  <a:lnTo>
                    <a:pt x="680317" y="26274"/>
                  </a:lnTo>
                  <a:lnTo>
                    <a:pt x="671098" y="12599"/>
                  </a:lnTo>
                  <a:lnTo>
                    <a:pt x="657424" y="3380"/>
                  </a:lnTo>
                  <a:lnTo>
                    <a:pt x="64067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5" name="Google Shape;175;p12"/>
          <p:cNvSpPr txBox="1"/>
          <p:nvPr/>
        </p:nvSpPr>
        <p:spPr>
          <a:xfrm>
            <a:off x="3071087" y="980972"/>
            <a:ext cx="673200" cy="1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latin typeface="Cambria"/>
                <a:ea typeface="Cambria"/>
                <a:cs typeface="Cambria"/>
                <a:sym typeface="Cambria"/>
              </a:rPr>
              <a:t>google.com:443</a:t>
            </a:r>
            <a:endParaRPr sz="75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76" name="Google Shape;176;p12"/>
          <p:cNvGrpSpPr/>
          <p:nvPr/>
        </p:nvGrpSpPr>
        <p:grpSpPr>
          <a:xfrm>
            <a:off x="1562196" y="1043903"/>
            <a:ext cx="398152" cy="45085"/>
            <a:chOff x="1562196" y="1043903"/>
            <a:chExt cx="398152" cy="45085"/>
          </a:xfrm>
        </p:grpSpPr>
        <p:sp>
          <p:nvSpPr>
            <p:cNvPr id="177" name="Google Shape;177;p12"/>
            <p:cNvSpPr/>
            <p:nvPr/>
          </p:nvSpPr>
          <p:spPr>
            <a:xfrm>
              <a:off x="1562196" y="1066273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 h="120000" extrusionOk="0">
                  <a:moveTo>
                    <a:pt x="0" y="0"/>
                  </a:moveTo>
                  <a:lnTo>
                    <a:pt x="369844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78" name="Google Shape;178;p12"/>
            <p:cNvSpPr/>
            <p:nvPr/>
          </p:nvSpPr>
          <p:spPr>
            <a:xfrm>
              <a:off x="1915263" y="1043903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 extrusionOk="0">
                  <a:moveTo>
                    <a:pt x="0" y="0"/>
                  </a:moveTo>
                  <a:lnTo>
                    <a:pt x="16777" y="22369"/>
                  </a:lnTo>
                  <a:lnTo>
                    <a:pt x="0" y="44738"/>
                  </a:lnTo>
                  <a:lnTo>
                    <a:pt x="44738" y="22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9" name="Google Shape;179;p12"/>
          <p:cNvSpPr txBox="1"/>
          <p:nvPr/>
        </p:nvSpPr>
        <p:spPr>
          <a:xfrm>
            <a:off x="1586904" y="948898"/>
            <a:ext cx="3486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Cambria"/>
                <a:ea typeface="Cambria"/>
                <a:cs typeface="Cambria"/>
                <a:sym typeface="Cambria"/>
              </a:rPr>
              <a:t>CONNECT</a:t>
            </a:r>
            <a:endParaRPr sz="5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80" name="Google Shape;180;p12"/>
          <p:cNvGrpSpPr/>
          <p:nvPr/>
        </p:nvGrpSpPr>
        <p:grpSpPr>
          <a:xfrm>
            <a:off x="2648002" y="1043903"/>
            <a:ext cx="398152" cy="45085"/>
            <a:chOff x="2648002" y="1043903"/>
            <a:chExt cx="398152" cy="45085"/>
          </a:xfrm>
        </p:grpSpPr>
        <p:sp>
          <p:nvSpPr>
            <p:cNvPr id="181" name="Google Shape;181;p12"/>
            <p:cNvSpPr/>
            <p:nvPr/>
          </p:nvSpPr>
          <p:spPr>
            <a:xfrm>
              <a:off x="2648002" y="1066273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 h="120000" extrusionOk="0">
                  <a:moveTo>
                    <a:pt x="0" y="0"/>
                  </a:moveTo>
                  <a:lnTo>
                    <a:pt x="369844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3001069" y="1043903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 extrusionOk="0">
                  <a:moveTo>
                    <a:pt x="0" y="0"/>
                  </a:moveTo>
                  <a:lnTo>
                    <a:pt x="16777" y="22369"/>
                  </a:lnTo>
                  <a:lnTo>
                    <a:pt x="0" y="44738"/>
                  </a:lnTo>
                  <a:lnTo>
                    <a:pt x="44738" y="22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83" name="Google Shape;183;p12"/>
          <p:cNvSpPr txBox="1"/>
          <p:nvPr/>
        </p:nvSpPr>
        <p:spPr>
          <a:xfrm>
            <a:off x="2638251" y="948898"/>
            <a:ext cx="4179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Cambria"/>
                <a:ea typeface="Cambria"/>
                <a:cs typeface="Cambria"/>
                <a:sym typeface="Cambria"/>
              </a:rPr>
              <a:t>TCP Connect</a:t>
            </a:r>
            <a:endParaRPr sz="5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84" name="Google Shape;184;p12"/>
          <p:cNvGrpSpPr/>
          <p:nvPr/>
        </p:nvGrpSpPr>
        <p:grpSpPr>
          <a:xfrm>
            <a:off x="1562196" y="1043903"/>
            <a:ext cx="1483973" cy="45085"/>
            <a:chOff x="1562196" y="1043903"/>
            <a:chExt cx="1483973" cy="45085"/>
          </a:xfrm>
        </p:grpSpPr>
        <p:sp>
          <p:nvSpPr>
            <p:cNvPr id="185" name="Google Shape;185;p12"/>
            <p:cNvSpPr/>
            <p:nvPr/>
          </p:nvSpPr>
          <p:spPr>
            <a:xfrm>
              <a:off x="2675964" y="1066273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 h="120000" extrusionOk="0">
                  <a:moveTo>
                    <a:pt x="36984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86" name="Google Shape;186;p12"/>
            <p:cNvSpPr/>
            <p:nvPr/>
          </p:nvSpPr>
          <p:spPr>
            <a:xfrm>
              <a:off x="2648002" y="1043903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 extrusionOk="0">
                  <a:moveTo>
                    <a:pt x="44738" y="44738"/>
                  </a:moveTo>
                  <a:lnTo>
                    <a:pt x="27961" y="22369"/>
                  </a:lnTo>
                  <a:lnTo>
                    <a:pt x="44738" y="0"/>
                  </a:lnTo>
                  <a:lnTo>
                    <a:pt x="0" y="22369"/>
                  </a:lnTo>
                  <a:lnTo>
                    <a:pt x="44738" y="447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1590158" y="1066273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 h="120000" extrusionOk="0">
                  <a:moveTo>
                    <a:pt x="36984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1562196" y="1043903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4" extrusionOk="0">
                  <a:moveTo>
                    <a:pt x="44738" y="44738"/>
                  </a:moveTo>
                  <a:lnTo>
                    <a:pt x="27961" y="22369"/>
                  </a:lnTo>
                  <a:lnTo>
                    <a:pt x="44738" y="0"/>
                  </a:lnTo>
                  <a:lnTo>
                    <a:pt x="0" y="22369"/>
                  </a:lnTo>
                  <a:lnTo>
                    <a:pt x="44738" y="447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89" name="Google Shape;189;p12"/>
          <p:cNvSpPr txBox="1"/>
          <p:nvPr/>
        </p:nvSpPr>
        <p:spPr>
          <a:xfrm>
            <a:off x="1636421" y="1074001"/>
            <a:ext cx="2496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Cambria"/>
                <a:ea typeface="Cambria"/>
                <a:cs typeface="Cambria"/>
                <a:sym typeface="Cambria"/>
              </a:rPr>
              <a:t>200 OK</a:t>
            </a:r>
            <a:endParaRPr sz="5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90" name="Google Shape;190;p12"/>
          <p:cNvGrpSpPr/>
          <p:nvPr/>
        </p:nvGrpSpPr>
        <p:grpSpPr>
          <a:xfrm>
            <a:off x="1352169" y="650958"/>
            <a:ext cx="1903719" cy="321945"/>
            <a:chOff x="1352169" y="650958"/>
            <a:chExt cx="1903719" cy="321945"/>
          </a:xfrm>
        </p:grpSpPr>
        <p:sp>
          <p:nvSpPr>
            <p:cNvPr id="191" name="Google Shape;191;p12"/>
            <p:cNvSpPr/>
            <p:nvPr/>
          </p:nvSpPr>
          <p:spPr>
            <a:xfrm>
              <a:off x="1352169" y="650958"/>
              <a:ext cx="1880870" cy="321945"/>
            </a:xfrm>
            <a:custGeom>
              <a:avLst/>
              <a:gdLst/>
              <a:ahLst/>
              <a:cxnLst/>
              <a:rect l="l" t="t" r="r" b="b"/>
              <a:pathLst>
                <a:path w="1880870" h="321944" extrusionOk="0">
                  <a:moveTo>
                    <a:pt x="0" y="321361"/>
                  </a:moveTo>
                  <a:lnTo>
                    <a:pt x="43569" y="291670"/>
                  </a:lnTo>
                  <a:lnTo>
                    <a:pt x="87393" y="263426"/>
                  </a:lnTo>
                  <a:lnTo>
                    <a:pt x="131458" y="236628"/>
                  </a:lnTo>
                  <a:lnTo>
                    <a:pt x="175749" y="211274"/>
                  </a:lnTo>
                  <a:lnTo>
                    <a:pt x="220250" y="187364"/>
                  </a:lnTo>
                  <a:lnTo>
                    <a:pt x="264948" y="164895"/>
                  </a:lnTo>
                  <a:lnTo>
                    <a:pt x="309827" y="143866"/>
                  </a:lnTo>
                  <a:lnTo>
                    <a:pt x="354874" y="124277"/>
                  </a:lnTo>
                  <a:lnTo>
                    <a:pt x="400072" y="106126"/>
                  </a:lnTo>
                  <a:lnTo>
                    <a:pt x="445408" y="89412"/>
                  </a:lnTo>
                  <a:lnTo>
                    <a:pt x="490866" y="74133"/>
                  </a:lnTo>
                  <a:lnTo>
                    <a:pt x="536433" y="60288"/>
                  </a:lnTo>
                  <a:lnTo>
                    <a:pt x="582093" y="47875"/>
                  </a:lnTo>
                  <a:lnTo>
                    <a:pt x="627832" y="36894"/>
                  </a:lnTo>
                  <a:lnTo>
                    <a:pt x="673634" y="27344"/>
                  </a:lnTo>
                  <a:lnTo>
                    <a:pt x="719486" y="19222"/>
                  </a:lnTo>
                  <a:lnTo>
                    <a:pt x="765372" y="12527"/>
                  </a:lnTo>
                  <a:lnTo>
                    <a:pt x="811279" y="7259"/>
                  </a:lnTo>
                  <a:lnTo>
                    <a:pt x="857190" y="3416"/>
                  </a:lnTo>
                  <a:lnTo>
                    <a:pt x="903092" y="997"/>
                  </a:lnTo>
                  <a:lnTo>
                    <a:pt x="948970" y="0"/>
                  </a:lnTo>
                  <a:lnTo>
                    <a:pt x="994808" y="423"/>
                  </a:lnTo>
                  <a:lnTo>
                    <a:pt x="1040593" y="2267"/>
                  </a:lnTo>
                  <a:lnTo>
                    <a:pt x="1086310" y="5529"/>
                  </a:lnTo>
                  <a:lnTo>
                    <a:pt x="1131943" y="10209"/>
                  </a:lnTo>
                  <a:lnTo>
                    <a:pt x="1177479" y="16304"/>
                  </a:lnTo>
                  <a:lnTo>
                    <a:pt x="1222902" y="23813"/>
                  </a:lnTo>
                  <a:lnTo>
                    <a:pt x="1268199" y="32736"/>
                  </a:lnTo>
                  <a:lnTo>
                    <a:pt x="1313353" y="43071"/>
                  </a:lnTo>
                  <a:lnTo>
                    <a:pt x="1358351" y="54817"/>
                  </a:lnTo>
                  <a:lnTo>
                    <a:pt x="1403177" y="67972"/>
                  </a:lnTo>
                  <a:lnTo>
                    <a:pt x="1447818" y="82535"/>
                  </a:lnTo>
                  <a:lnTo>
                    <a:pt x="1492258" y="98505"/>
                  </a:lnTo>
                  <a:lnTo>
                    <a:pt x="1536482" y="115880"/>
                  </a:lnTo>
                  <a:lnTo>
                    <a:pt x="1580477" y="134660"/>
                  </a:lnTo>
                  <a:lnTo>
                    <a:pt x="1624226" y="154842"/>
                  </a:lnTo>
                  <a:lnTo>
                    <a:pt x="1667717" y="176426"/>
                  </a:lnTo>
                  <a:lnTo>
                    <a:pt x="1710933" y="199410"/>
                  </a:lnTo>
                  <a:lnTo>
                    <a:pt x="1753860" y="223793"/>
                  </a:lnTo>
                  <a:lnTo>
                    <a:pt x="1796483" y="249574"/>
                  </a:lnTo>
                  <a:lnTo>
                    <a:pt x="1838789" y="276751"/>
                  </a:lnTo>
                  <a:lnTo>
                    <a:pt x="1880761" y="305324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3206358" y="928336"/>
              <a:ext cx="49530" cy="44450"/>
            </a:xfrm>
            <a:custGeom>
              <a:avLst/>
              <a:gdLst/>
              <a:ahLst/>
              <a:cxnLst/>
              <a:rect l="l" t="t" r="r" b="b"/>
              <a:pathLst>
                <a:path w="49529" h="44450" extrusionOk="0">
                  <a:moveTo>
                    <a:pt x="25660" y="0"/>
                  </a:moveTo>
                  <a:lnTo>
                    <a:pt x="26572" y="27946"/>
                  </a:lnTo>
                  <a:lnTo>
                    <a:pt x="0" y="36647"/>
                  </a:lnTo>
                  <a:lnTo>
                    <a:pt x="49477" y="43984"/>
                  </a:lnTo>
                  <a:lnTo>
                    <a:pt x="2566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93" name="Google Shape;193;p12"/>
          <p:cNvSpPr txBox="1"/>
          <p:nvPr/>
        </p:nvSpPr>
        <p:spPr>
          <a:xfrm>
            <a:off x="2065771" y="523046"/>
            <a:ext cx="477000" cy="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Encrypted Data</a:t>
            </a:r>
            <a:endParaRPr sz="5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125851" y="1364250"/>
            <a:ext cx="5601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Cambria"/>
                <a:ea typeface="Cambria"/>
                <a:cs typeface="Cambria"/>
                <a:sym typeface="Cambria"/>
              </a:rPr>
              <a:t>Process: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5" name="Google Shape;195;p12"/>
          <p:cNvSpPr txBox="1">
            <a:spLocks noGrp="1"/>
          </p:cNvSpPr>
          <p:nvPr>
            <p:ph type="body" idx="1"/>
          </p:nvPr>
        </p:nvSpPr>
        <p:spPr>
          <a:xfrm>
            <a:off x="378500" y="1608700"/>
            <a:ext cx="40623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61975" lvl="0" indent="0" algn="l" rtl="0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Cambria"/>
                <a:ea typeface="Cambria"/>
                <a:cs typeface="Cambria"/>
                <a:sym typeface="Cambria"/>
              </a:rPr>
              <a:t>Client: ”CONNECT </a:t>
            </a:r>
            <a:r>
              <a:rPr lang="en-US" sz="7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www.google.com:443”</a:t>
            </a:r>
            <a:r>
              <a:rPr lang="en-US" sz="7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700">
              <a:latin typeface="Cambria"/>
              <a:ea typeface="Cambria"/>
              <a:cs typeface="Cambria"/>
              <a:sym typeface="Cambria"/>
            </a:endParaRPr>
          </a:p>
          <a:p>
            <a:pPr marL="12700" marR="561975" lvl="0" indent="0" algn="l" rtl="0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Cambria"/>
                <a:ea typeface="Cambria"/>
                <a:cs typeface="Cambria"/>
                <a:sym typeface="Cambria"/>
              </a:rPr>
              <a:t>Proxy establishes TCP connection to Google </a:t>
            </a:r>
            <a:endParaRPr sz="700">
              <a:latin typeface="Cambria"/>
              <a:ea typeface="Cambria"/>
              <a:cs typeface="Cambria"/>
              <a:sym typeface="Cambria"/>
            </a:endParaRPr>
          </a:p>
          <a:p>
            <a:pPr marL="12700" marR="561975" lvl="0" indent="0" algn="l" rtl="0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Cambria"/>
                <a:ea typeface="Cambria"/>
                <a:cs typeface="Cambria"/>
                <a:sym typeface="Cambria"/>
              </a:rPr>
              <a:t>Proxy replies: ”200 Connection established”</a:t>
            </a:r>
            <a:endParaRPr sz="700">
              <a:latin typeface="Cambria"/>
              <a:ea typeface="Cambria"/>
              <a:cs typeface="Cambria"/>
              <a:sym typeface="Cambria"/>
            </a:endParaRPr>
          </a:p>
          <a:p>
            <a:pPr marL="12700" marR="148590" lvl="0" indent="0" algn="l" rtl="0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Cambria"/>
                <a:ea typeface="Cambria"/>
                <a:cs typeface="Cambria"/>
                <a:sym typeface="Cambria"/>
              </a:rPr>
              <a:t>Client performs TLS handshake directly with Google </a:t>
            </a:r>
            <a:endParaRPr sz="700">
              <a:latin typeface="Cambria"/>
              <a:ea typeface="Cambria"/>
              <a:cs typeface="Cambria"/>
              <a:sym typeface="Cambria"/>
            </a:endParaRPr>
          </a:p>
          <a:p>
            <a:pPr marL="12700" marR="148590" lvl="0" indent="0" algn="l" rtl="0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Cambria"/>
                <a:ea typeface="Cambria"/>
                <a:cs typeface="Cambria"/>
                <a:sym typeface="Cambria"/>
              </a:rPr>
              <a:t>Proxy forwards encrypted data bidirectionally</a:t>
            </a:r>
            <a:endParaRPr sz="7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700" b="1">
                <a:latin typeface="Cambria"/>
                <a:ea typeface="Cambria"/>
                <a:cs typeface="Cambria"/>
                <a:sym typeface="Cambria"/>
              </a:rPr>
              <a:t>Proxy cannot see content (end-to-end encryption)</a:t>
            </a:r>
            <a:endParaRPr sz="7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47561" y="2823610"/>
            <a:ext cx="660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2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177356" y="2862807"/>
            <a:ext cx="4331400" cy="544800"/>
          </a:xfrm>
          <a:prstGeom prst="rect">
            <a:avLst/>
          </a:prstGeom>
          <a:solidFill>
            <a:srgbClr val="F2F2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985" lvl="0" indent="0" algn="l" rtl="0">
              <a:lnSpc>
                <a:spcPct val="101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if </a:t>
            </a: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method == </a:t>
            </a:r>
            <a:r>
              <a:rPr lang="en-US" sz="8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’ CONNECT ’</a:t>
            </a: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: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266700" marR="653415" lvl="0" indent="634" algn="l" rtl="0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server_socket . connect (( dest_host , dest_port))  client. send (</a:t>
            </a:r>
            <a:r>
              <a:rPr lang="en-US" sz="8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200 Connection  established "</a:t>
            </a: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) tunnel_traffic ( client , server_socket )	</a:t>
            </a:r>
            <a:r>
              <a:rPr lang="en-US" sz="800">
                <a:solidFill>
                  <a:srgbClr val="009900"/>
                </a:solidFill>
                <a:latin typeface="Cambria"/>
                <a:ea typeface="Cambria"/>
                <a:cs typeface="Cambria"/>
                <a:sym typeface="Cambria"/>
              </a:rPr>
              <a:t># Forward data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-59825" y="289025"/>
            <a:ext cx="3863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3180" lvl="0" indent="0" algn="l" rtl="0"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Handling Encrypted Traffic:</a:t>
            </a:r>
            <a:endParaRPr sz="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95300" y="53125"/>
            <a:ext cx="33336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How Dashboard Monitoring Works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1367" y="306568"/>
            <a:ext cx="17628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8400" rIns="0" bIns="0" anchor="t" anchorCtr="0">
            <a:spAutoFit/>
          </a:bodyPr>
          <a:lstStyle/>
          <a:p>
            <a:pPr marL="58418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mbria"/>
                <a:ea typeface="Cambria"/>
                <a:cs typeface="Cambria"/>
                <a:sym typeface="Cambria"/>
              </a:rPr>
              <a:t>Real-Time Request Tracking: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1371" y="774528"/>
            <a:ext cx="66000" cy="18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2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119425" y="771325"/>
            <a:ext cx="2079000" cy="2115000"/>
          </a:xfrm>
          <a:prstGeom prst="rect">
            <a:avLst/>
          </a:prstGeom>
          <a:solidFill>
            <a:srgbClr val="F2F2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255" lvl="0" indent="0" algn="l" rtl="0">
              <a:lnSpc>
                <a:spcPct val="101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@app . route (</a:t>
            </a: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’/ </a:t>
            </a:r>
            <a:r>
              <a:rPr lang="en-US" sz="800" dirty="0" err="1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api</a:t>
            </a: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/ requests ’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)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266700" marR="936625" lvl="0" indent="-259715" algn="l" rtl="0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def</a:t>
            </a:r>
            <a:r>
              <a:rPr lang="en-US" sz="800" dirty="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800" dirty="0" err="1">
                <a:latin typeface="Cambria"/>
                <a:ea typeface="Cambria"/>
                <a:cs typeface="Cambria"/>
                <a:sym typeface="Cambria"/>
              </a:rPr>
              <a:t>get_requests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 (): </a:t>
            </a:r>
            <a:r>
              <a:rPr lang="en-US" sz="800" dirty="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return </a:t>
            </a:r>
            <a:r>
              <a:rPr lang="en-US" sz="800" dirty="0" err="1">
                <a:latin typeface="Cambria"/>
                <a:ea typeface="Cambria"/>
                <a:cs typeface="Cambria"/>
                <a:sym typeface="Cambria"/>
              </a:rPr>
              <a:t>jsonify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 (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525780" lvl="0" indent="0" algn="l" rtl="0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latin typeface="Cambria"/>
                <a:ea typeface="Cambria"/>
                <a:cs typeface="Cambria"/>
                <a:sym typeface="Cambria"/>
              </a:rPr>
              <a:t>request_log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 . </a:t>
            </a:r>
            <a:r>
              <a:rPr lang="en-US" sz="800" dirty="0" err="1">
                <a:latin typeface="Cambria"/>
                <a:ea typeface="Cambria"/>
                <a:cs typeface="Cambria"/>
                <a:sym typeface="Cambria"/>
              </a:rPr>
              <a:t>get_all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 ()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262890" lvl="0" indent="0" algn="l" rtl="0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)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9525" marR="742950" lvl="0" indent="-4445" algn="l" rtl="0">
              <a:lnSpc>
                <a:spcPct val="11875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009900"/>
                </a:solidFill>
                <a:latin typeface="Cambria"/>
                <a:ea typeface="Cambria"/>
                <a:cs typeface="Cambria"/>
                <a:sym typeface="Cambria"/>
              </a:rPr>
              <a:t># Each request logged : </a:t>
            </a:r>
            <a:r>
              <a:rPr lang="en-US" sz="800" dirty="0" err="1">
                <a:latin typeface="Cambria"/>
                <a:ea typeface="Cambria"/>
                <a:cs typeface="Cambria"/>
                <a:sym typeface="Cambria"/>
              </a:rPr>
              <a:t>log_entry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 = {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262890" lvl="0" indent="0" algn="l" rtl="0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timestamp "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"..."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,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262890" marR="870585" lvl="0" indent="0" algn="l" rtl="0">
              <a:lnSpc>
                <a:spcPct val="11875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method "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GET"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</a:t>
            </a:r>
            <a:r>
              <a:rPr lang="en-US" sz="800" dirty="0" err="1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url</a:t>
            </a: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"..."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,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262890" lvl="0" indent="0" algn="l" rtl="0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status"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200 "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,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26289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source "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800" dirty="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cache "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508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}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  <a:p>
            <a:pPr marL="9525" lvl="0" indent="0" algn="l" rtl="0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latin typeface="Cambria"/>
                <a:ea typeface="Cambria"/>
                <a:cs typeface="Cambria"/>
                <a:sym typeface="Cambria"/>
              </a:rPr>
              <a:t>request_log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 . add ( </a:t>
            </a:r>
            <a:r>
              <a:rPr lang="en-US" sz="800" dirty="0" err="1">
                <a:latin typeface="Cambria"/>
                <a:ea typeface="Cambria"/>
                <a:cs typeface="Cambria"/>
                <a:sym typeface="Cambria"/>
              </a:rPr>
              <a:t>log_entry</a:t>
            </a:r>
            <a:r>
              <a:rPr lang="en-US" sz="800" dirty="0">
                <a:latin typeface="Cambria"/>
                <a:ea typeface="Cambria"/>
                <a:cs typeface="Cambria"/>
                <a:sym typeface="Cambria"/>
              </a:rPr>
              <a:t> )</a:t>
            </a:r>
            <a:endParaRPr sz="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2703260" y="569539"/>
            <a:ext cx="12096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latin typeface="Cambria"/>
                <a:ea typeface="Cambria"/>
                <a:cs typeface="Cambria"/>
                <a:sym typeface="Cambria"/>
              </a:rPr>
              <a:t>Frontend (JavaScript):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2259190" y="774528"/>
            <a:ext cx="660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2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2350175" y="808100"/>
            <a:ext cx="2166000" cy="1120500"/>
          </a:xfrm>
          <a:prstGeom prst="rect">
            <a:avLst/>
          </a:prstGeom>
          <a:solidFill>
            <a:srgbClr val="F2F2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985" lvl="0" indent="0" algn="l" rtl="0">
              <a:lnSpc>
                <a:spcPct val="101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// Auto - refresh every 2 s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266700" marR="487044" lvl="0" indent="-257809" algn="l" rtl="0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setInterval (() =&gt; {   fetch (’/ api/ requests ’)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262890" lvl="0" indent="0" algn="l" rtl="0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. then ( r =&gt; r. json ())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525780" marR="227329" lvl="0" indent="-262890" algn="l" rtl="0">
              <a:lnSpc>
                <a:spcPct val="11875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. then ( requests =&gt; {  update Table ( requests);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264795" lvl="0" indent="0" algn="l" rtl="0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});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  <a:p>
            <a:pPr marL="5080" lvl="0" indent="0" algn="l" rtl="0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Cambria"/>
                <a:ea typeface="Cambria"/>
                <a:cs typeface="Cambria"/>
                <a:sym typeface="Cambria"/>
              </a:rPr>
              <a:t>}, 2000);</a:t>
            </a:r>
            <a:endParaRPr sz="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2287750" y="1886200"/>
            <a:ext cx="20406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50" rIns="0" bIns="0" anchor="t" anchorCtr="0">
            <a:spAutoFit/>
          </a:bodyPr>
          <a:lstStyle/>
          <a:p>
            <a:pPr marL="289560" marR="508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125852" y="3053575"/>
            <a:ext cx="39471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Cambria"/>
                <a:ea typeface="Cambria"/>
                <a:cs typeface="Cambria"/>
                <a:sym typeface="Cambria"/>
              </a:rPr>
              <a:t>Source Types: </a:t>
            </a:r>
            <a:r>
              <a:rPr lang="en-US" sz="1000">
                <a:latin typeface="Cambria"/>
                <a:ea typeface="Cambria"/>
                <a:cs typeface="Cambria"/>
                <a:sym typeface="Cambria"/>
              </a:rPr>
              <a:t>cache — network — blacklist — tunnel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465417" y="483300"/>
            <a:ext cx="154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Backend (Flask):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2325200" y="1994625"/>
            <a:ext cx="2166000" cy="1059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Dashboard Shows:</a:t>
            </a:r>
            <a:endParaRPr sz="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9560" marR="508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 Live request table</a:t>
            </a:r>
            <a:endParaRPr sz="9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9560" marR="508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 Cache statistics </a:t>
            </a:r>
            <a:endParaRPr sz="9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9560" marR="508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 Blacklist status </a:t>
            </a:r>
            <a:endParaRPr sz="9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9560" marR="508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 Cached URLs list </a:t>
            </a:r>
            <a:endParaRPr sz="9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9560" marR="508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 Test interface</a:t>
            </a:r>
            <a:endParaRPr dirty="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>
            <a:spLocks noGrp="1"/>
          </p:cNvSpPr>
          <p:nvPr>
            <p:ph type="title"/>
          </p:nvPr>
        </p:nvSpPr>
        <p:spPr>
          <a:xfrm>
            <a:off x="95300" y="53125"/>
            <a:ext cx="30846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Complete Request Flow Example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125844" y="347477"/>
            <a:ext cx="25509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Cambria"/>
                <a:ea typeface="Cambria"/>
                <a:cs typeface="Cambria"/>
                <a:sym typeface="Cambria"/>
              </a:rPr>
              <a:t>Scenario: </a:t>
            </a:r>
            <a:r>
              <a:rPr lang="en-US" sz="1000">
                <a:latin typeface="Cambria"/>
                <a:ea typeface="Cambria"/>
                <a:cs typeface="Cambria"/>
                <a:sym typeface="Cambria"/>
              </a:rPr>
              <a:t>User requests </a:t>
            </a:r>
            <a:r>
              <a:rPr lang="en-US" sz="10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http://example.com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125849" y="557525"/>
            <a:ext cx="4295700" cy="23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8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Client Connection: </a:t>
            </a:r>
            <a:r>
              <a:rPr lang="en-US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Browser connects to proxy port 9090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Authentication: </a:t>
            </a:r>
            <a:r>
              <a:rPr lang="en-US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Proxy checks credentials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9560" lvl="0" indent="0" algn="l" rtl="0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Valid? Continue — Invalid? Return 407</a:t>
            </a:r>
            <a:endParaRPr sz="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spcBef>
                <a:spcPts val="41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Blacklist Check: </a:t>
            </a:r>
            <a:r>
              <a:rPr lang="en-US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example.com blocked?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9560" lvl="0" indent="0" algn="l" rtl="0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Yes? Return 403 — No? Continue</a:t>
            </a:r>
            <a:endParaRPr sz="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Cache Lookup: </a:t>
            </a:r>
            <a:r>
              <a:rPr lang="en-US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Check if URL is cached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9560" marR="1118235" lvl="0" indent="0" algn="l" rtl="0">
              <a:lnSpc>
                <a:spcPct val="101499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Cache HIT: </a:t>
            </a: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Return cached response (1-5ms) </a:t>
            </a:r>
            <a:endParaRPr sz="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9560" marR="1118235" lvl="0" indent="0" algn="l" rtl="0">
              <a:lnSpc>
                <a:spcPct val="101499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Cache MISS: </a:t>
            </a:r>
            <a:r>
              <a:rPr lang="en-US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Continue to step 5</a:t>
            </a:r>
            <a:endParaRPr sz="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spcBef>
                <a:spcPts val="51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Fetch from Server: </a:t>
            </a:r>
            <a:r>
              <a:rPr lang="en-US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Forward request to example.com (200-500ms)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Cache Response: </a:t>
            </a:r>
            <a:r>
              <a:rPr lang="en-US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Store response with TTL=300s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Return to Client: </a:t>
            </a:r>
            <a:r>
              <a:rPr lang="en-US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Send response back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Log Activity: </a:t>
            </a:r>
            <a:r>
              <a:rPr lang="en-US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Record in dashboard (method, URL, status, source)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None/>
            </a:pPr>
            <a:endParaRPr sz="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125851" y="3089175"/>
            <a:ext cx="40125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Cambria"/>
                <a:ea typeface="Cambria"/>
                <a:cs typeface="Cambria"/>
                <a:sym typeface="Cambria"/>
              </a:rPr>
              <a:t>Next Request (within 5 min): </a:t>
            </a:r>
            <a:r>
              <a:rPr lang="en-US" sz="1000">
                <a:latin typeface="Cambria"/>
                <a:ea typeface="Cambria"/>
                <a:cs typeface="Cambria"/>
                <a:sym typeface="Cambria"/>
              </a:rPr>
              <a:t>Direct cache hit - 100x faster!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762</Words>
  <Application>Microsoft Office PowerPoint</Application>
  <PresentationFormat>Custom</PresentationFormat>
  <Paragraphs>193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Times New Roman</vt:lpstr>
      <vt:lpstr>Arial</vt:lpstr>
      <vt:lpstr>Tahoma</vt:lpstr>
      <vt:lpstr>Cambria</vt:lpstr>
      <vt:lpstr>Office Theme</vt:lpstr>
      <vt:lpstr>PowerPoint Presentation</vt:lpstr>
      <vt:lpstr>System Overview - How It Works</vt:lpstr>
      <vt:lpstr>How Caching Works</vt:lpstr>
      <vt:lpstr>How Proxy Authentication Works</vt:lpstr>
      <vt:lpstr>How Domain Blacklisting Works</vt:lpstr>
      <vt:lpstr>How HTTPS Tunneling Works</vt:lpstr>
      <vt:lpstr>How Dashboard Monitoring Works</vt:lpstr>
      <vt:lpstr>Complete Request Flow 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2</cp:revision>
  <dcterms:modified xsi:type="dcterms:W3CDTF">2026-01-10T09:55:15Z</dcterms:modified>
</cp:coreProperties>
</file>